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57" r:id="rId6"/>
    <p:sldId id="263" r:id="rId7"/>
    <p:sldId id="256" r:id="rId8"/>
    <p:sldId id="264" r:id="rId9"/>
    <p:sldId id="266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DADEF-11BB-49EC-B8D8-4699C27E9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440E53-563B-40FE-8FF1-B20E447EE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634835-713B-4D7A-A0FD-06E939657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A5E4A-CC64-45C9-8BAA-5483360F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2559C4-95E6-4431-8D07-9A222BF7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248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3E612-6B38-415A-AE48-E0D88682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AA810-C2CE-4757-A621-B0AACF1F5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A1671-01D5-4E1B-8A03-C7ECF0E1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97768-22BA-4B30-9096-9BA01227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BA8B1F-EBFB-49BC-B17F-B80965F9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37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88086-2EC5-4160-8492-1791F98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6EECE-5777-4053-9A7D-E1DB15EF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A9F63-2A26-459E-B90A-BF9FA688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2756C-03D7-42F6-B1CF-320F7C98E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478A9-3122-4A0C-8EE5-6D6DDE6A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29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F097D-1FB6-4D09-AAE6-DF297939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07AA18-6B1B-4AB3-A034-5FFFFDD77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FAB398-72A1-4B73-BF39-1687190C2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15597D-8028-44DF-BB82-C9BDE0F8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99CE15-B58D-4116-9F3D-298620F9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C3664D-AC65-470F-B2AF-DB8DA948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459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1B89A-E4A5-42EE-B22F-E2F1F7B9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A4CCE3-0169-4E5B-942C-EFB348A89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00EFAE-5B6B-4943-922F-75827CC30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DD83C-FAEB-48BC-8183-65ABD6233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394C68-5648-4A6E-AB27-B97C8C055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17AE2A7-34D8-4569-98CC-F7B06FCF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BBC47E-B293-4A5F-BC77-E7691C52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ADA949-DA55-489B-A045-ECC5C9B2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265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3B909-36C8-4629-9415-F899C403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E4285E-CF75-4D4A-B9D6-31EFECA7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3AF84D-3A4F-48E5-8D77-64F9A0D7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5DB86C-9432-4A1E-86DE-06435D54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42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01940C-A496-4548-85A8-D2FFFFB0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43CADC-35ED-43A5-9395-35AD25E4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CAFE2E-AA92-4F72-BAC8-E8AFFA03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871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23C0A-482C-405B-9080-8E8E9669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BF46D0-4523-4756-8B59-C9B8D8FF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A99CAD-C900-471A-AB49-F2463D009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7F2D27-A285-4E73-BF7B-C5CEE74F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71EF6C-3DDD-4EFC-B4D9-FB62B7DA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5D57F6-6CD8-49D1-B035-09D7C242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604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A3FC9-5E5C-4909-904C-49BDF227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9280C5-A45D-4592-9E3E-2D932E44E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BEF341-1635-4C21-98C6-1A4D810BD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A55C28-1128-4C50-9917-B17C6F6B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7144D0-42E9-4748-8689-344F6ABD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E7D1D-8442-4739-B4C8-AAF02339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405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00FA2-8CE6-4096-8F06-4529D1FB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020B15-27B7-4076-BB74-909348067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DB4B55-87AF-4F77-BAB3-CED31DDF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8DFFDC-5865-42D0-905F-50A17AA1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C206A7-5B21-4BD1-A24C-A851BBE2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59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6354AE-73D4-4BF1-83F7-E6C7415E8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F28E5A-22AC-4996-A172-B7D752A12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D0CDF-5500-4CE8-ABF3-031E8BCA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DE4591-D82A-47C6-89D1-7E574554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6B819-A175-48D0-A0C9-FD61C56C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736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4A946C-4B38-44D3-A6CF-C47D4BBE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C53AA5-C952-4849-84DF-828FEE4FD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2905A6-9D55-4307-AE54-D4C54AA32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62A97-AA89-44AE-9E8F-D9C823F8E335}" type="datetimeFigureOut">
              <a:rPr lang="es-CO" smtClean="0"/>
              <a:t>28/02/2026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6D7320-2F60-481E-AD89-B78877780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E6E618-2C96-4465-B9AE-AD4FD4C6B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02482-A37F-46E1-88F2-CA5D655E28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460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at0PgqgkEE1EEnLGEi4TICUb7MA13iWG/view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31906D-C31F-491E-B77D-6D7B5B39E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2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811E2-C94E-4B5D-B5F9-0913303F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Objetivo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AB1C72-E58A-41F5-847D-BC23B6F86E3C}"/>
              </a:ext>
            </a:extLst>
          </p:cNvPr>
          <p:cNvSpPr txBox="1">
            <a:spLocks/>
          </p:cNvSpPr>
          <p:nvPr/>
        </p:nvSpPr>
        <p:spPr>
          <a:xfrm>
            <a:off x="838200" y="1542771"/>
            <a:ext cx="109683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Entender de dónde nace NoSQL y qué problema resuelve</a:t>
            </a:r>
          </a:p>
          <a:p>
            <a:r>
              <a:rPr lang="es-ES" dirty="0"/>
              <a:t>Conocer tipos de NoSQL (visión general)</a:t>
            </a:r>
          </a:p>
          <a:p>
            <a:r>
              <a:rPr lang="es-ES" dirty="0"/>
              <a:t>Comprender JSON (estructura y significado)</a:t>
            </a:r>
          </a:p>
          <a:p>
            <a:r>
              <a:rPr lang="es-ES" dirty="0"/>
              <a:t>Comparar diseño SQL vs diseño NoSQL (manual)</a:t>
            </a:r>
          </a:p>
          <a:p>
            <a:r>
              <a:rPr lang="es-ES" dirty="0"/>
              <a:t>Resolver un taller en hoja (análisis y diseño)</a:t>
            </a:r>
          </a:p>
        </p:txBody>
      </p:sp>
    </p:spTree>
    <p:extLst>
      <p:ext uri="{BB962C8B-B14F-4D97-AF65-F5344CB8AC3E}">
        <p14:creationId xmlns:p14="http://schemas.microsoft.com/office/powerpoint/2010/main" val="379558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2309-EF46-4E85-949C-BF2D51BB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Nivelación MER/SQL: el puente para entender NoSQL</a:t>
            </a:r>
            <a:endParaRPr lang="es-CO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8C19C-45A2-4ED5-9504-71895FE1B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3690"/>
            <a:ext cx="1110278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s-ES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MER/SQL aporta el “lenguaje común”: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ES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Entidades, atributos, cardinalidades,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Normalización y redundancia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Claves, integridad y transacciones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CO" sz="1800" b="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aprender NoSQL hay que cambiar el enfoque, no “olvidar” lo anterior: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modelar entidades → a modelar consultas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 datos embebidos / documentos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NIVELACION : 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https://drive.google.com/file/d/1at0PgqgkEE1EEnLGEi4TICUb7MA13iWG/view?usp=sharing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2309-EF46-4E85-949C-BF2D51BB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Cambiando de enfoque: NoSQL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8C19C-45A2-4ED5-9504-71895FE1B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6203"/>
            <a:ext cx="1110278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¿Cuántas tablas creen que necesita Instagram para mostrar una publicación?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pasa cuando una tabla tiene millones de filas?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¿Cuántos </a:t>
            </a:r>
            <a:r>
              <a:rPr kumimoji="0" lang="es-CO" altLang="es-CO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es-CO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ejecutan para mostrar un perfil?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¿El modelo relacional está mal… o fue diseñado para otro tipo de problemas?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800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800" i="1" dirty="0"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 no nace para reemplazar SQL, nace para resolver otros problemas.</a:t>
            </a: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82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123536B-C675-4C4E-B047-F2CA8D7B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4" y="585008"/>
            <a:ext cx="10783805" cy="55919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5158F-01F8-44D4-A5FF-DAAAC5C16B67}"/>
              </a:ext>
            </a:extLst>
          </p:cNvPr>
          <p:cNvSpPr txBox="1">
            <a:spLocks/>
          </p:cNvSpPr>
          <p:nvPr/>
        </p:nvSpPr>
        <p:spPr>
          <a:xfrm>
            <a:off x="7570327" y="2152323"/>
            <a:ext cx="4195850" cy="31727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Orientadas a:</a:t>
            </a:r>
          </a:p>
          <a:p>
            <a:pPr lvl="1"/>
            <a:r>
              <a:rPr lang="es-ES" dirty="0"/>
              <a:t>Escalabilidad</a:t>
            </a:r>
          </a:p>
          <a:p>
            <a:pPr lvl="1"/>
            <a:r>
              <a:rPr lang="es-ES" dirty="0"/>
              <a:t>Flexibilidad de estructura</a:t>
            </a:r>
          </a:p>
          <a:p>
            <a:pPr lvl="1"/>
            <a:r>
              <a:rPr lang="es-ES" dirty="0"/>
              <a:t>Alto rendimiento (según el caso de uso)</a:t>
            </a:r>
          </a:p>
          <a:p>
            <a:r>
              <a:rPr lang="es-ES" dirty="0"/>
              <a:t>Idea clave: NoSQL cambia el enfoque del diseño (del MER → consultas)</a:t>
            </a: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349B1A80-C271-4504-8F8B-E100AB94614D}"/>
              </a:ext>
            </a:extLst>
          </p:cNvPr>
          <p:cNvSpPr/>
          <p:nvPr/>
        </p:nvSpPr>
        <p:spPr>
          <a:xfrm>
            <a:off x="6790765" y="1869141"/>
            <a:ext cx="779562" cy="33348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566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A2309-EF46-4E85-949C-BF2D51BB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Porque aparece NoSQL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8C19C-45A2-4ED5-9504-71895FE1B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9212" y="1943128"/>
            <a:ext cx="1110278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s-ES" altLang="es-CO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Crecimiento masivo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Aplicaciones web y móviles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Estructuras cambiantes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Escalabilidad horizontal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CO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S" altLang="es-CO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relacional prioriza consistencia; NoSQL prioriza flexibilidad y rendimiento.</a:t>
            </a: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799B3B34-97C8-4E87-9025-B4FD4BB76B1D}"/>
              </a:ext>
            </a:extLst>
          </p:cNvPr>
          <p:cNvSpPr/>
          <p:nvPr/>
        </p:nvSpPr>
        <p:spPr>
          <a:xfrm>
            <a:off x="730624" y="1943128"/>
            <a:ext cx="107576" cy="34595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035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DD4D4-2336-4ECB-A1B7-D3C4ADD57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77479A-84B0-4116-BE4E-DC06562A09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AF013E-D2F1-4F31-AC6C-4AC379538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813378AE-0966-44B8-B6B6-650B9E80F05A}"/>
              </a:ext>
            </a:extLst>
          </p:cNvPr>
          <p:cNvSpPr/>
          <p:nvPr/>
        </p:nvSpPr>
        <p:spPr>
          <a:xfrm>
            <a:off x="0" y="4854388"/>
            <a:ext cx="1788459" cy="200361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786B4E9-4A22-4E5A-8A7D-417A6C2C972E}"/>
              </a:ext>
            </a:extLst>
          </p:cNvPr>
          <p:cNvSpPr/>
          <p:nvPr/>
        </p:nvSpPr>
        <p:spPr>
          <a:xfrm>
            <a:off x="11174506" y="0"/>
            <a:ext cx="101749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5741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70080C-A03C-4DFB-B2DD-6DB16F23B97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Tipos de NoSQL (mapa rápido)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AFE8E2-341F-48FE-B7A6-2C54D3374D8E}"/>
              </a:ext>
            </a:extLst>
          </p:cNvPr>
          <p:cNvSpPr txBox="1">
            <a:spLocks/>
          </p:cNvSpPr>
          <p:nvPr/>
        </p:nvSpPr>
        <p:spPr>
          <a:xfrm>
            <a:off x="1855694" y="1767325"/>
            <a:ext cx="8229600" cy="481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Clave–valor (ej. Redis): caché, sesiones, configuraciones Documentos (ej. MongoDB): </a:t>
            </a:r>
            <a:r>
              <a:rPr lang="es-CO" dirty="0" err="1"/>
              <a:t>APIs</a:t>
            </a:r>
            <a:r>
              <a:rPr lang="es-CO" dirty="0"/>
              <a:t>, apps, catálogos, contenidos</a:t>
            </a:r>
          </a:p>
          <a:p>
            <a:r>
              <a:rPr lang="es-CO" dirty="0"/>
              <a:t>Columnas (ej. </a:t>
            </a:r>
            <a:r>
              <a:rPr lang="es-CO" dirty="0" err="1"/>
              <a:t>Cassandra</a:t>
            </a:r>
            <a:r>
              <a:rPr lang="es-CO" dirty="0"/>
              <a:t>): grandes volúmenes distribuidos</a:t>
            </a:r>
          </a:p>
          <a:p>
            <a:r>
              <a:rPr lang="es-CO" dirty="0"/>
              <a:t>Grafos (ej. Neo4j): relaciones complejas (amigos, rutas, recomendaciones)</a:t>
            </a:r>
          </a:p>
          <a:p>
            <a:r>
              <a:rPr lang="es-CO" dirty="0"/>
              <a:t>En este curso empezamos con: Documentos (MongoDB)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9D23301-61F4-4EEF-A9F9-DF03E673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2" y="1417638"/>
            <a:ext cx="838317" cy="481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8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0FC9A6-24A3-4DE7-9721-C4276ADB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¿</a:t>
            </a:r>
            <a:r>
              <a:rPr lang="es-CO" dirty="0"/>
              <a:t>E</a:t>
            </a:r>
            <a:r>
              <a:rPr dirty="0"/>
              <a:t>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viajan</a:t>
            </a:r>
            <a:r>
              <a:rPr dirty="0"/>
              <a:t> los </a:t>
            </a:r>
            <a:r>
              <a:rPr dirty="0" err="1"/>
              <a:t>datos</a:t>
            </a:r>
            <a:r>
              <a:rPr dirty="0"/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7CF1CB-E5BB-4218-8E53-52DCB7952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dirty="0"/>
              <a:t>APIs (web/</a:t>
            </a:r>
            <a:r>
              <a:rPr dirty="0" err="1"/>
              <a:t>móvil</a:t>
            </a:r>
            <a:r>
              <a:rPr dirty="0"/>
              <a:t>)</a:t>
            </a:r>
          </a:p>
          <a:p>
            <a:r>
              <a:rPr dirty="0"/>
              <a:t>Logs y </a:t>
            </a:r>
            <a:r>
              <a:rPr dirty="0" err="1"/>
              <a:t>eventos</a:t>
            </a:r>
            <a:r>
              <a:rPr dirty="0"/>
              <a:t> (</a:t>
            </a:r>
            <a:r>
              <a:rPr dirty="0" err="1"/>
              <a:t>clics</a:t>
            </a:r>
            <a:r>
              <a:rPr dirty="0"/>
              <a:t>, </a:t>
            </a:r>
            <a:r>
              <a:rPr dirty="0" err="1"/>
              <a:t>compras</a:t>
            </a:r>
            <a:r>
              <a:rPr dirty="0"/>
              <a:t>, </a:t>
            </a:r>
            <a:r>
              <a:rPr dirty="0" err="1"/>
              <a:t>actividad</a:t>
            </a:r>
            <a:r>
              <a:rPr dirty="0"/>
              <a:t>)</a:t>
            </a:r>
            <a:endParaRPr lang="es-CO" dirty="0"/>
          </a:p>
          <a:p>
            <a:r>
              <a:rPr lang="es-ES" dirty="0"/>
              <a:t>Datos </a:t>
            </a:r>
            <a:r>
              <a:rPr lang="es-ES" dirty="0" err="1"/>
              <a:t>semi-estructurados</a:t>
            </a:r>
            <a:r>
              <a:rPr lang="es-ES" dirty="0"/>
              <a:t> que evolucionan con la aplicación</a:t>
            </a:r>
            <a:endParaRPr lang="es-CO" dirty="0"/>
          </a:p>
          <a:p>
            <a:r>
              <a:rPr dirty="0" err="1"/>
              <a:t>Pregunta</a:t>
            </a:r>
            <a:r>
              <a:rPr dirty="0"/>
              <a:t> clave: ¿</a:t>
            </a:r>
            <a:r>
              <a:rPr dirty="0" err="1"/>
              <a:t>si</a:t>
            </a:r>
            <a:r>
              <a:rPr dirty="0"/>
              <a:t>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llegan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“</a:t>
            </a:r>
            <a:r>
              <a:rPr dirty="0" err="1"/>
              <a:t>documentos</a:t>
            </a:r>
            <a:r>
              <a:rPr dirty="0"/>
              <a:t>”, por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guardarlos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099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0FC9A6-24A3-4DE7-9721-C4276ADB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CO" dirty="0"/>
              <a:t>Abstracción documentos: </a:t>
            </a:r>
            <a:r>
              <a:rPr lang="es-CO" dirty="0" err="1"/>
              <a:t>Json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6C2C80-E888-41A9-AE91-40BCC294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13" y="1317812"/>
            <a:ext cx="6112574" cy="490817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D8E605B-27D2-4ECF-8082-9E01153D2D70}"/>
              </a:ext>
            </a:extLst>
          </p:cNvPr>
          <p:cNvSpPr txBox="1"/>
          <p:nvPr/>
        </p:nvSpPr>
        <p:spPr>
          <a:xfrm>
            <a:off x="8540445" y="846138"/>
            <a:ext cx="3637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Formato de texto para intercambiar datos.</a:t>
            </a:r>
          </a:p>
          <a:p>
            <a:r>
              <a:rPr lang="es-ES" dirty="0"/>
              <a:t>Basado en una notación de objetos Popularizado/especificado por Douglas </a:t>
            </a:r>
            <a:r>
              <a:rPr lang="es-ES" dirty="0" err="1"/>
              <a:t>Crockford</a:t>
            </a:r>
            <a:r>
              <a:rPr lang="es-ES" dirty="0"/>
              <a:t>; </a:t>
            </a:r>
          </a:p>
          <a:p>
            <a:r>
              <a:rPr lang="es-ES" dirty="0"/>
              <a:t>primer mensaje JSON en 2001</a:t>
            </a:r>
            <a:endParaRPr lang="es-CO" dirty="0"/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3C512E18-D338-4B5E-A7EC-D296D0E3E037}"/>
              </a:ext>
            </a:extLst>
          </p:cNvPr>
          <p:cNvSpPr/>
          <p:nvPr/>
        </p:nvSpPr>
        <p:spPr>
          <a:xfrm>
            <a:off x="8081682" y="605118"/>
            <a:ext cx="134471" cy="23801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7BA61B-F0FE-4E06-B3FE-2740396FE5EB}"/>
              </a:ext>
            </a:extLst>
          </p:cNvPr>
          <p:cNvSpPr txBox="1"/>
          <p:nvPr/>
        </p:nvSpPr>
        <p:spPr>
          <a:xfrm>
            <a:off x="6545357" y="5691958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“JSON es una forma estándar de escribir información estructurada en texto. Es fácil de leer, fácil de enviar por internet y fácil de convertir a objetos en programación.”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90174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0FC9A6-24A3-4DE7-9721-C4276ADB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86" y="197086"/>
            <a:ext cx="8229600" cy="1143000"/>
          </a:xfrm>
        </p:spPr>
        <p:txBody>
          <a:bodyPr/>
          <a:lstStyle/>
          <a:p>
            <a:r>
              <a:rPr lang="es-CO" b="1" dirty="0" err="1"/>
              <a:t>Json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7CF1CB-E5BB-4218-8E53-52DCB7952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64893"/>
            <a:ext cx="6339763" cy="2339788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JSON = JavaScript 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Notation</a:t>
            </a:r>
            <a:r>
              <a:rPr lang="es-ES" dirty="0"/>
              <a:t> (formato de intercambio de datos)</a:t>
            </a:r>
          </a:p>
          <a:p>
            <a:r>
              <a:rPr lang="es-ES" dirty="0"/>
              <a:t>Es texto, legible por humanos y máquinas</a:t>
            </a:r>
          </a:p>
          <a:p>
            <a:r>
              <a:rPr lang="es-ES" dirty="0"/>
              <a:t>Representa objetos con pares clave–valor</a:t>
            </a:r>
          </a:p>
          <a:p>
            <a:r>
              <a:rPr lang="es-ES" dirty="0"/>
              <a:t>En bases de documentos, el ‘documento’ se parece al objeto de la app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6C2C80-E888-41A9-AE91-40BCC294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962" y="215675"/>
            <a:ext cx="4937838" cy="3964906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E7B5AC7F-7653-4570-84A5-A4EA53B7DC1B}"/>
              </a:ext>
            </a:extLst>
          </p:cNvPr>
          <p:cNvSpPr txBox="1"/>
          <p:nvPr/>
        </p:nvSpPr>
        <p:spPr>
          <a:xfrm>
            <a:off x="1102659" y="3938169"/>
            <a:ext cx="35903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latin typeface="Courier New"/>
              </a:rPr>
              <a:t>{
  "</a:t>
            </a:r>
            <a:r>
              <a:rPr sz="1600" b="1" dirty="0" err="1">
                <a:latin typeface="Courier New"/>
              </a:rPr>
              <a:t>nombre</a:t>
            </a:r>
            <a:r>
              <a:rPr sz="1600" b="1" dirty="0">
                <a:latin typeface="Courier New"/>
              </a:rPr>
              <a:t>": "Ana",
  "</a:t>
            </a:r>
            <a:r>
              <a:rPr sz="1600" b="1" dirty="0" err="1">
                <a:latin typeface="Courier New"/>
              </a:rPr>
              <a:t>edad</a:t>
            </a:r>
            <a:r>
              <a:rPr sz="1600" b="1" dirty="0">
                <a:latin typeface="Courier New"/>
              </a:rPr>
              <a:t>": 20
}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A73AB9-E4BB-4AC7-86FA-C5CAFBC6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11" y="4534542"/>
            <a:ext cx="5977978" cy="2092882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5C01C77-2445-4A6E-96C3-544D385EFF99}"/>
              </a:ext>
            </a:extLst>
          </p:cNvPr>
          <p:cNvCxnSpPr>
            <a:cxnSpLocks/>
          </p:cNvCxnSpPr>
          <p:nvPr/>
        </p:nvCxnSpPr>
        <p:spPr>
          <a:xfrm>
            <a:off x="9427245" y="3665013"/>
            <a:ext cx="832861" cy="176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BC286E-0E74-4467-9397-00E242F733D1}"/>
              </a:ext>
            </a:extLst>
          </p:cNvPr>
          <p:cNvSpPr txBox="1"/>
          <p:nvPr/>
        </p:nvSpPr>
        <p:spPr>
          <a:xfrm>
            <a:off x="10260106" y="3753503"/>
            <a:ext cx="626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i="1" dirty="0"/>
              <a:t>Lista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8A91C94-B470-423C-AC56-F0261EFCAB23}"/>
              </a:ext>
            </a:extLst>
          </p:cNvPr>
          <p:cNvCxnSpPr/>
          <p:nvPr/>
        </p:nvCxnSpPr>
        <p:spPr>
          <a:xfrm>
            <a:off x="9439836" y="2487706"/>
            <a:ext cx="645458" cy="18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C0409D8-42A6-41A6-9A8E-F39682EA9CD0}"/>
              </a:ext>
            </a:extLst>
          </p:cNvPr>
          <p:cNvSpPr txBox="1"/>
          <p:nvPr/>
        </p:nvSpPr>
        <p:spPr>
          <a:xfrm>
            <a:off x="10085294" y="2487706"/>
            <a:ext cx="128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i="1" dirty="0"/>
              <a:t>Documento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2D9C3DC-570B-4F55-A38C-BCC2471771EC}"/>
              </a:ext>
            </a:extLst>
          </p:cNvPr>
          <p:cNvCxnSpPr/>
          <p:nvPr/>
        </p:nvCxnSpPr>
        <p:spPr>
          <a:xfrm flipV="1">
            <a:off x="8027894" y="846138"/>
            <a:ext cx="0" cy="3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30EC440-CE5D-4B6A-A249-55306E8D808E}"/>
              </a:ext>
            </a:extLst>
          </p:cNvPr>
          <p:cNvSpPr txBox="1"/>
          <p:nvPr/>
        </p:nvSpPr>
        <p:spPr>
          <a:xfrm>
            <a:off x="7584141" y="58392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i="1" dirty="0"/>
              <a:t>Clave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DB569EC-AC86-45F6-B9C6-9031B9D52F5C}"/>
              </a:ext>
            </a:extLst>
          </p:cNvPr>
          <p:cNvCxnSpPr>
            <a:cxnSpLocks/>
          </p:cNvCxnSpPr>
          <p:nvPr/>
        </p:nvCxnSpPr>
        <p:spPr>
          <a:xfrm flipV="1">
            <a:off x="9801521" y="1164163"/>
            <a:ext cx="5065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5081A17-CF10-40C1-8B55-30C0C2C28CB2}"/>
              </a:ext>
            </a:extLst>
          </p:cNvPr>
          <p:cNvSpPr txBox="1"/>
          <p:nvPr/>
        </p:nvSpPr>
        <p:spPr>
          <a:xfrm>
            <a:off x="10289165" y="995561"/>
            <a:ext cx="69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i="1" dirty="0"/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1066546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465AD2-F466-4D51-B2FA-421D31D0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23" y="274638"/>
            <a:ext cx="8229600" cy="1143000"/>
          </a:xfrm>
        </p:spPr>
        <p:txBody>
          <a:bodyPr/>
          <a:lstStyle/>
          <a:p>
            <a:r>
              <a:rPr dirty="0"/>
              <a:t>JSON: clave–valor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FDB14CE-5E86-4B7D-8DE2-843A8601AEBD}"/>
              </a:ext>
            </a:extLst>
          </p:cNvPr>
          <p:cNvSpPr txBox="1"/>
          <p:nvPr/>
        </p:nvSpPr>
        <p:spPr>
          <a:xfrm>
            <a:off x="731520" y="1463040"/>
            <a:ext cx="66122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latin typeface="Courier New"/>
              </a:rPr>
              <a:t>{
  "</a:t>
            </a:r>
            <a:r>
              <a:rPr sz="1600" b="1" dirty="0" err="1">
                <a:latin typeface="Courier New"/>
              </a:rPr>
              <a:t>nombre</a:t>
            </a:r>
            <a:r>
              <a:rPr sz="1600" b="1" dirty="0">
                <a:latin typeface="Courier New"/>
              </a:rPr>
              <a:t>": "Ana",
  "</a:t>
            </a:r>
            <a:r>
              <a:rPr sz="1600" b="1" dirty="0" err="1">
                <a:latin typeface="Courier New"/>
              </a:rPr>
              <a:t>edad</a:t>
            </a:r>
            <a:r>
              <a:rPr sz="1600" b="1" dirty="0">
                <a:latin typeface="Courier New"/>
              </a:rPr>
              <a:t>": 20
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2A3781-445A-43BC-AAD6-DA3DBDA0E921}"/>
              </a:ext>
            </a:extLst>
          </p:cNvPr>
          <p:cNvSpPr txBox="1">
            <a:spLocks/>
          </p:cNvSpPr>
          <p:nvPr/>
        </p:nvSpPr>
        <p:spPr>
          <a:xfrm>
            <a:off x="614362" y="2286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JSON: </a:t>
            </a:r>
            <a:r>
              <a:rPr lang="es-CO" dirty="0" err="1"/>
              <a:t>arrays</a:t>
            </a:r>
            <a:r>
              <a:rPr lang="es-CO" dirty="0"/>
              <a:t> (listas)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E513656-AD01-424F-9E44-68DB9AF79EAC}"/>
              </a:ext>
            </a:extLst>
          </p:cNvPr>
          <p:cNvSpPr txBox="1"/>
          <p:nvPr/>
        </p:nvSpPr>
        <p:spPr>
          <a:xfrm>
            <a:off x="888682" y="3474402"/>
            <a:ext cx="7680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latin typeface="Courier New"/>
              </a:rPr>
              <a:t>{
  "</a:t>
            </a:r>
            <a:r>
              <a:rPr sz="1600" b="1" dirty="0" err="1">
                <a:latin typeface="Courier New"/>
              </a:rPr>
              <a:t>materias</a:t>
            </a:r>
            <a:r>
              <a:rPr sz="1600" b="1" dirty="0">
                <a:latin typeface="Courier New"/>
              </a:rPr>
              <a:t>": ["BD", "Redes", "</a:t>
            </a:r>
            <a:r>
              <a:rPr sz="1600" b="1" dirty="0" err="1">
                <a:latin typeface="Courier New"/>
              </a:rPr>
              <a:t>Algoritmos</a:t>
            </a:r>
            <a:r>
              <a:rPr sz="1600" b="1" dirty="0">
                <a:latin typeface="Courier New"/>
              </a:rPr>
              <a:t>"]
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C534AB-24A5-4A2E-AAA4-CC16DF30BEDA}"/>
              </a:ext>
            </a:extLst>
          </p:cNvPr>
          <p:cNvSpPr txBox="1">
            <a:spLocks/>
          </p:cNvSpPr>
          <p:nvPr/>
        </p:nvSpPr>
        <p:spPr>
          <a:xfrm>
            <a:off x="1042988" y="419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JSON: objetos anidados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CED63220-EFFB-472B-94E5-7343FE442384}"/>
              </a:ext>
            </a:extLst>
          </p:cNvPr>
          <p:cNvSpPr txBox="1"/>
          <p:nvPr/>
        </p:nvSpPr>
        <p:spPr>
          <a:xfrm>
            <a:off x="1240155" y="5334952"/>
            <a:ext cx="7680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latin typeface="Courier New"/>
              </a:rPr>
              <a:t>{
  "</a:t>
            </a:r>
            <a:r>
              <a:rPr sz="1600" b="1" dirty="0" err="1">
                <a:latin typeface="Courier New"/>
              </a:rPr>
              <a:t>direccion</a:t>
            </a:r>
            <a:r>
              <a:rPr sz="1600" b="1" dirty="0">
                <a:latin typeface="Courier New"/>
              </a:rPr>
              <a:t>": {
    "ciudad": "Cali",
    "</a:t>
            </a:r>
            <a:r>
              <a:rPr sz="1600" b="1" dirty="0" err="1">
                <a:latin typeface="Courier New"/>
              </a:rPr>
              <a:t>pais</a:t>
            </a:r>
            <a:r>
              <a:rPr sz="1600" b="1" dirty="0">
                <a:latin typeface="Courier New"/>
              </a:rPr>
              <a:t>": "Colombia"
  }
}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5F0FD14-8B99-443D-B2E3-BE356CC0A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894" y="519361"/>
            <a:ext cx="37290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Clave–valor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clave = etiqueta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 = dato (texto, número, booleano)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D0521D-DF56-40D3-A7AB-24231CE4D1C1}"/>
              </a:ext>
            </a:extLst>
          </p:cNvPr>
          <p:cNvSpPr txBox="1"/>
          <p:nvPr/>
        </p:nvSpPr>
        <p:spPr>
          <a:xfrm>
            <a:off x="8569642" y="3684310"/>
            <a:ext cx="2840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“lista de elementos”</a:t>
            </a:r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917B7C75-074D-455F-B7A0-3E12D1054C1C}"/>
              </a:ext>
            </a:extLst>
          </p:cNvPr>
          <p:cNvSpPr/>
          <p:nvPr/>
        </p:nvSpPr>
        <p:spPr>
          <a:xfrm>
            <a:off x="8454894" y="3173690"/>
            <a:ext cx="114748" cy="12369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F885BE11-6398-495A-AF3E-B5F7A7C6ACBC}"/>
              </a:ext>
            </a:extLst>
          </p:cNvPr>
          <p:cNvSpPr/>
          <p:nvPr/>
        </p:nvSpPr>
        <p:spPr>
          <a:xfrm>
            <a:off x="8276047" y="519361"/>
            <a:ext cx="201706" cy="1571624"/>
          </a:xfrm>
          <a:prstGeom prst="leftBrace">
            <a:avLst>
              <a:gd name="adj1" fmla="val 8333"/>
              <a:gd name="adj2" fmla="val 491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0FAA06-8558-4DF0-85A1-82B3B5F75DC5}"/>
              </a:ext>
            </a:extLst>
          </p:cNvPr>
          <p:cNvSpPr txBox="1"/>
          <p:nvPr/>
        </p:nvSpPr>
        <p:spPr>
          <a:xfrm>
            <a:off x="8663098" y="5711229"/>
            <a:ext cx="304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“un objeto dentro de otro”</a:t>
            </a:r>
            <a:endParaRPr lang="es-CO" dirty="0"/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58B55598-4C1D-4A74-BF4E-A1656BF59430}"/>
              </a:ext>
            </a:extLst>
          </p:cNvPr>
          <p:cNvSpPr/>
          <p:nvPr/>
        </p:nvSpPr>
        <p:spPr>
          <a:xfrm>
            <a:off x="8500613" y="5128185"/>
            <a:ext cx="45719" cy="14551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5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C4733D-BD9E-4CB0-8A49-C1637B41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b="1" dirty="0" err="1"/>
              <a:t>Ventajas</a:t>
            </a:r>
            <a:r>
              <a:rPr b="1" dirty="0"/>
              <a:t> y </a:t>
            </a:r>
            <a:r>
              <a:rPr b="1" dirty="0" err="1"/>
              <a:t>desventajas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14AB65-541E-4413-8D02-EC1257AE2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dirty="0" err="1"/>
              <a:t>Ventajas</a:t>
            </a:r>
            <a:r>
              <a:rPr dirty="0"/>
              <a:t> NoSQL (</a:t>
            </a:r>
            <a:r>
              <a:rPr dirty="0" err="1"/>
              <a:t>documentos</a:t>
            </a:r>
            <a:r>
              <a:rPr dirty="0"/>
              <a:t>):</a:t>
            </a:r>
          </a:p>
          <a:p>
            <a:pPr lvl="1"/>
            <a:r>
              <a:rPr dirty="0" err="1"/>
              <a:t>Lecturas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: </a:t>
            </a:r>
            <a:r>
              <a:rPr dirty="0" err="1"/>
              <a:t>trae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documento</a:t>
            </a:r>
            <a:endParaRPr dirty="0"/>
          </a:p>
          <a:p>
            <a:pPr lvl="1"/>
            <a:r>
              <a:rPr dirty="0" err="1"/>
              <a:t>Flexibilidad</a:t>
            </a:r>
            <a:r>
              <a:rPr dirty="0"/>
              <a:t>: </a:t>
            </a:r>
            <a:r>
              <a:rPr dirty="0" err="1"/>
              <a:t>campos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variar</a:t>
            </a:r>
            <a:r>
              <a:rPr dirty="0"/>
              <a:t> por </a:t>
            </a:r>
            <a:r>
              <a:rPr dirty="0" err="1"/>
              <a:t>documento</a:t>
            </a:r>
            <a:endParaRPr dirty="0"/>
          </a:p>
          <a:p>
            <a:pPr lvl="1"/>
            <a:r>
              <a:rPr dirty="0"/>
              <a:t>Más </a:t>
            </a:r>
            <a:r>
              <a:rPr dirty="0" err="1"/>
              <a:t>cercano</a:t>
            </a:r>
            <a:r>
              <a:rPr dirty="0"/>
              <a:t> a </a:t>
            </a:r>
            <a:r>
              <a:rPr dirty="0" err="1"/>
              <a:t>datos</a:t>
            </a:r>
            <a:r>
              <a:rPr dirty="0"/>
              <a:t> de APIs (JSON)</a:t>
            </a:r>
          </a:p>
          <a:p>
            <a:r>
              <a:rPr dirty="0" err="1"/>
              <a:t>Desventajas</a:t>
            </a:r>
            <a:r>
              <a:rPr dirty="0"/>
              <a:t>/</a:t>
            </a:r>
            <a:r>
              <a:rPr dirty="0" err="1"/>
              <a:t>retos</a:t>
            </a:r>
            <a:r>
              <a:rPr dirty="0"/>
              <a:t>:</a:t>
            </a:r>
          </a:p>
          <a:p>
            <a:pPr lvl="1"/>
            <a:r>
              <a:rPr dirty="0" err="1"/>
              <a:t>Posible</a:t>
            </a:r>
            <a:r>
              <a:rPr dirty="0"/>
              <a:t> </a:t>
            </a:r>
            <a:r>
              <a:rPr dirty="0" err="1"/>
              <a:t>duplicación</a:t>
            </a:r>
            <a:r>
              <a:rPr dirty="0"/>
              <a:t> de </a:t>
            </a:r>
            <a:r>
              <a:rPr dirty="0" err="1"/>
              <a:t>información</a:t>
            </a:r>
            <a:endParaRPr dirty="0"/>
          </a:p>
          <a:p>
            <a:pPr lvl="1"/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(no hay un MER </a:t>
            </a:r>
            <a:r>
              <a:rPr dirty="0" err="1"/>
              <a:t>único</a:t>
            </a:r>
            <a:r>
              <a:rPr dirty="0"/>
              <a:t>)</a:t>
            </a:r>
          </a:p>
          <a:p>
            <a:pPr lvl="1"/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reportes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ser </a:t>
            </a:r>
            <a:r>
              <a:rPr dirty="0" err="1"/>
              <a:t>más</a:t>
            </a:r>
            <a:r>
              <a:rPr dirty="0"/>
              <a:t> naturales </a:t>
            </a:r>
            <a:r>
              <a:rPr dirty="0" err="1"/>
              <a:t>en</a:t>
            </a:r>
            <a:r>
              <a:rPr dirty="0"/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599550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61A23-B3FC-4388-9E09-BBD15507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comparado SQL vs NoSQL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8F98FD-B0AC-412A-AD93-F86356E46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281" y="4045042"/>
            <a:ext cx="10614213" cy="1325563"/>
          </a:xfrm>
        </p:spPr>
        <p:txBody>
          <a:bodyPr>
            <a:normAutofit fontScale="92500" lnSpcReduction="10000"/>
          </a:bodyPr>
          <a:lstStyle/>
          <a:p>
            <a:r>
              <a:rPr lang="es-CO" dirty="0"/>
              <a:t>Entidades: Cliente, Producto, Proveedor, Pedido)</a:t>
            </a:r>
          </a:p>
          <a:p>
            <a:r>
              <a:rPr lang="es-CO" dirty="0" err="1"/>
              <a:t>Relaciones:Cliente</a:t>
            </a:r>
            <a:r>
              <a:rPr lang="es-CO" dirty="0"/>
              <a:t>–Producto (N:M) vía Pedido</a:t>
            </a:r>
          </a:p>
          <a:p>
            <a:r>
              <a:rPr lang="es-CO" dirty="0"/>
              <a:t>Proveedor–Producto (1:N)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06FA05-B28A-4533-9DAB-C96CA4DD0B27}"/>
              </a:ext>
            </a:extLst>
          </p:cNvPr>
          <p:cNvSpPr txBox="1"/>
          <p:nvPr/>
        </p:nvSpPr>
        <p:spPr>
          <a:xfrm>
            <a:off x="7836274" y="5870899"/>
            <a:ext cx="3849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“En SQL diseñamos para normalizar y luego consultamos con </a:t>
            </a:r>
            <a:r>
              <a:rPr lang="es-ES" dirty="0" err="1"/>
              <a:t>joins</a:t>
            </a:r>
            <a:r>
              <a:rPr lang="es-ES" dirty="0"/>
              <a:t>.”</a:t>
            </a:r>
            <a:endParaRPr lang="es-CO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4850F9-B6AE-436A-ABDA-00676F9139AD}"/>
              </a:ext>
            </a:extLst>
          </p:cNvPr>
          <p:cNvSpPr txBox="1">
            <a:spLocks/>
          </p:cNvSpPr>
          <p:nvPr/>
        </p:nvSpPr>
        <p:spPr>
          <a:xfrm>
            <a:off x="1071281" y="1738079"/>
            <a:ext cx="7422776" cy="2101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Universo del discurso resumido</a:t>
            </a:r>
          </a:p>
          <a:p>
            <a:r>
              <a:rPr lang="es-ES" dirty="0"/>
              <a:t>Empresa vende productos a clientes</a:t>
            </a:r>
          </a:p>
          <a:p>
            <a:r>
              <a:rPr lang="es-ES" dirty="0"/>
              <a:t>Se almacenan datos personales del cliente</a:t>
            </a:r>
          </a:p>
          <a:p>
            <a:r>
              <a:rPr lang="es-ES" dirty="0"/>
              <a:t>Producto: código, nombre, precio unitario</a:t>
            </a:r>
          </a:p>
          <a:p>
            <a:r>
              <a:rPr lang="es-ES" dirty="0"/>
              <a:t>Cliente compra muchos productos (y viceversa)</a:t>
            </a:r>
          </a:p>
          <a:p>
            <a:r>
              <a:rPr lang="es-ES" dirty="0"/>
              <a:t>Producto pertenece a un proveedor (1 proveedor → muchos productos)</a:t>
            </a:r>
          </a:p>
        </p:txBody>
      </p:sp>
    </p:spTree>
    <p:extLst>
      <p:ext uri="{BB962C8B-B14F-4D97-AF65-F5344CB8AC3E}">
        <p14:creationId xmlns:p14="http://schemas.microsoft.com/office/powerpoint/2010/main" val="408807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9DF42FF-B1E7-46B6-99E5-7F5DABBEFBD3}"/>
              </a:ext>
            </a:extLst>
          </p:cNvPr>
          <p:cNvSpPr/>
          <p:nvPr/>
        </p:nvSpPr>
        <p:spPr>
          <a:xfrm>
            <a:off x="7261410" y="1542709"/>
            <a:ext cx="4701989" cy="3427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761A23-B3FC-4388-9E09-BBD15507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Enfoque NoSQL (paso a paso “manual”)</a:t>
            </a:r>
            <a:endParaRPr lang="es-CO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C1447E-BBEC-4E20-9299-60B09494A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121257"/>
            <a:ext cx="4446494" cy="4877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CO" dirty="0"/>
              <a:t>D</a:t>
            </a:r>
            <a:r>
              <a:rPr dirty="0" err="1"/>
              <a:t>iseño</a:t>
            </a:r>
            <a:r>
              <a:rPr dirty="0"/>
              <a:t> </a:t>
            </a:r>
            <a:r>
              <a:rPr dirty="0" err="1"/>
              <a:t>orientado</a:t>
            </a:r>
            <a:r>
              <a:rPr dirty="0"/>
              <a:t> a </a:t>
            </a:r>
            <a:r>
              <a:rPr dirty="0" err="1"/>
              <a:t>documentos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800F76-5046-47CE-AA9F-D0C2D98A0ECD}"/>
              </a:ext>
            </a:extLst>
          </p:cNvPr>
          <p:cNvSpPr txBox="1">
            <a:spLocks/>
          </p:cNvSpPr>
          <p:nvPr/>
        </p:nvSpPr>
        <p:spPr>
          <a:xfrm>
            <a:off x="-1" y="1634624"/>
            <a:ext cx="6651811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Clientes compran productos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Productos tienen proveedor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Relaciones N:M y 1:N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Enfoque clásico relacional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EA33B2-C78F-45F6-B922-3B36394C5D44}"/>
              </a:ext>
            </a:extLst>
          </p:cNvPr>
          <p:cNvSpPr txBox="1">
            <a:spLocks/>
          </p:cNvSpPr>
          <p:nvPr/>
        </p:nvSpPr>
        <p:spPr>
          <a:xfrm>
            <a:off x="60512" y="3705927"/>
            <a:ext cx="5056095" cy="539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Requerimiento original (SQL)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C30C24-3E46-45D3-B78F-ED01687BB41B}"/>
              </a:ext>
            </a:extLst>
          </p:cNvPr>
          <p:cNvSpPr txBox="1">
            <a:spLocks/>
          </p:cNvSpPr>
          <p:nvPr/>
        </p:nvSpPr>
        <p:spPr>
          <a:xfrm>
            <a:off x="7490011" y="3001039"/>
            <a:ext cx="4069976" cy="1828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No pensamos en tablas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Pensamos en consultas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• Pensamos en información completa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7D37764-3C1B-4170-B028-273658D0C167}"/>
              </a:ext>
            </a:extLst>
          </p:cNvPr>
          <p:cNvSpPr txBox="1">
            <a:spLocks/>
          </p:cNvSpPr>
          <p:nvPr/>
        </p:nvSpPr>
        <p:spPr>
          <a:xfrm>
            <a:off x="7490011" y="1725272"/>
            <a:ext cx="470198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Pensamiento NoSQL: primer cambio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48E2373-4A6E-4BB0-82F9-0E0B4CD8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24" y="5225604"/>
            <a:ext cx="10260070" cy="93139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747BDBD8-A93D-4727-BB85-E05A9351FBE7}"/>
              </a:ext>
            </a:extLst>
          </p:cNvPr>
          <p:cNvSpPr/>
          <p:nvPr/>
        </p:nvSpPr>
        <p:spPr>
          <a:xfrm>
            <a:off x="349624" y="5023561"/>
            <a:ext cx="10665739" cy="1469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7835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C1447E-BBEC-4E20-9299-60B09494A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121257"/>
            <a:ext cx="4446494" cy="4877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CO" dirty="0"/>
              <a:t>D</a:t>
            </a:r>
            <a:r>
              <a:rPr dirty="0" err="1"/>
              <a:t>iseño</a:t>
            </a:r>
            <a:r>
              <a:rPr dirty="0"/>
              <a:t> </a:t>
            </a:r>
            <a:r>
              <a:rPr dirty="0" err="1"/>
              <a:t>orientado</a:t>
            </a:r>
            <a:r>
              <a:rPr dirty="0"/>
              <a:t> a </a:t>
            </a:r>
            <a:r>
              <a:rPr dirty="0" err="1"/>
              <a:t>documentos</a:t>
            </a:r>
            <a:endParaRPr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9A4151-87DA-4669-9F32-E315F53A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8993"/>
            <a:ext cx="10340788" cy="1143000"/>
          </a:xfrm>
        </p:spPr>
        <p:txBody>
          <a:bodyPr>
            <a:normAutofit/>
          </a:bodyPr>
          <a:lstStyle/>
          <a:p>
            <a:r>
              <a:rPr dirty="0"/>
              <a:t>Paso 1: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se consulta junta?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9E71CDB-560A-4F40-A123-51CAFFAEE385}"/>
              </a:ext>
            </a:extLst>
          </p:cNvPr>
          <p:cNvSpPr txBox="1">
            <a:spLocks/>
          </p:cNvSpPr>
          <p:nvPr/>
        </p:nvSpPr>
        <p:spPr>
          <a:xfrm>
            <a:off x="712694" y="1963271"/>
            <a:ext cx="7872413" cy="26717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Paso 1: Definir 3 consultas típicas 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“Ver el historial de compras de un cliente (con productos)”</a:t>
            </a:r>
          </a:p>
          <a:p>
            <a:pPr>
              <a:buFont typeface="+mj-lt"/>
              <a:buAutoNum type="arabicPeriod"/>
            </a:pPr>
            <a:r>
              <a:rPr lang="es-ES" dirty="0"/>
              <a:t>“Ver el detalle de una compra (productos + precio)”</a:t>
            </a:r>
          </a:p>
          <a:p>
            <a:pPr>
              <a:buFont typeface="+mj-lt"/>
              <a:buAutoNum type="arabicPeriod"/>
            </a:pPr>
            <a:r>
              <a:rPr lang="es-ES" dirty="0"/>
              <a:t>“Ver productos por proveedor”</a:t>
            </a:r>
          </a:p>
        </p:txBody>
      </p:sp>
    </p:spTree>
    <p:extLst>
      <p:ext uri="{BB962C8B-B14F-4D97-AF65-F5344CB8AC3E}">
        <p14:creationId xmlns:p14="http://schemas.microsoft.com/office/powerpoint/2010/main" val="408733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C1447E-BBEC-4E20-9299-60B09494A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121257"/>
            <a:ext cx="4446494" cy="4877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CO" dirty="0"/>
              <a:t>D</a:t>
            </a:r>
            <a:r>
              <a:rPr dirty="0" err="1"/>
              <a:t>iseño</a:t>
            </a:r>
            <a:r>
              <a:rPr dirty="0"/>
              <a:t> </a:t>
            </a:r>
            <a:r>
              <a:rPr dirty="0" err="1"/>
              <a:t>orientado</a:t>
            </a:r>
            <a:r>
              <a:rPr dirty="0"/>
              <a:t> a </a:t>
            </a:r>
            <a:r>
              <a:rPr dirty="0" err="1"/>
              <a:t>documentos</a:t>
            </a: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514F07-E7DB-451E-9CB5-F71E80B8CC19}"/>
              </a:ext>
            </a:extLst>
          </p:cNvPr>
          <p:cNvSpPr txBox="1">
            <a:spLocks/>
          </p:cNvSpPr>
          <p:nvPr/>
        </p:nvSpPr>
        <p:spPr>
          <a:xfrm>
            <a:off x="954740" y="852861"/>
            <a:ext cx="91305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Paso 2: Unidad principal de información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BCA08A-6E04-4D6D-AEA3-059B7CA1575D}"/>
              </a:ext>
            </a:extLst>
          </p:cNvPr>
          <p:cNvSpPr txBox="1">
            <a:spLocks/>
          </p:cNvSpPr>
          <p:nvPr/>
        </p:nvSpPr>
        <p:spPr>
          <a:xfrm>
            <a:off x="739588" y="223972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• La compra (pedido)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• Representa un evento completo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dirty="0"/>
              <a:t>• Punto central del diseño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EF699EF-CE39-4533-82E1-A12FEDB43AAC}"/>
              </a:ext>
            </a:extLst>
          </p:cNvPr>
          <p:cNvSpPr txBox="1"/>
          <p:nvPr/>
        </p:nvSpPr>
        <p:spPr>
          <a:xfrm>
            <a:off x="4155141" y="4302655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“La unidad natural aquí es una </a:t>
            </a:r>
            <a:r>
              <a:rPr lang="es-ES" sz="2000" b="1" dirty="0"/>
              <a:t>compra/pedido</a:t>
            </a:r>
            <a:r>
              <a:rPr lang="es-ES" sz="2000" dirty="0"/>
              <a:t> (evento).”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07677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853D9-71DF-4C03-AA34-386C7EAE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327341" cy="1143000"/>
          </a:xfrm>
        </p:spPr>
        <p:txBody>
          <a:bodyPr/>
          <a:lstStyle/>
          <a:p>
            <a:r>
              <a:rPr dirty="0"/>
              <a:t>Paso 3: ¿</a:t>
            </a:r>
            <a:r>
              <a:rPr dirty="0" err="1"/>
              <a:t>Qué</a:t>
            </a:r>
            <a:r>
              <a:rPr dirty="0"/>
              <a:t> se </a:t>
            </a:r>
            <a:r>
              <a:rPr dirty="0" err="1"/>
              <a:t>embebe</a:t>
            </a:r>
            <a:r>
              <a:rPr dirty="0"/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FBBA34-11C5-4FCF-80AB-A48803831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10851777" cy="3092824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En un “detalle de compra” se necesita: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datos del cliente (resumen)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productos comprados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precio al momento de la compra (histórico)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proveedor asociado al producto (resumen)</a:t>
            </a:r>
          </a:p>
        </p:txBody>
      </p:sp>
    </p:spTree>
    <p:extLst>
      <p:ext uri="{BB962C8B-B14F-4D97-AF65-F5344CB8AC3E}">
        <p14:creationId xmlns:p14="http://schemas.microsoft.com/office/powerpoint/2010/main" val="75669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6DEF4-BD4D-4E6D-8809-7EBAA391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Documento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903CE4-CAC1-4A52-A046-06A52DFC8B55}"/>
              </a:ext>
            </a:extLst>
          </p:cNvPr>
          <p:cNvSpPr txBox="1"/>
          <p:nvPr/>
        </p:nvSpPr>
        <p:spPr>
          <a:xfrm>
            <a:off x="3237380" y="1808273"/>
            <a:ext cx="60982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{</a:t>
            </a:r>
          </a:p>
          <a:p>
            <a:r>
              <a:rPr lang="es-CO" dirty="0"/>
              <a:t>  "</a:t>
            </a:r>
            <a:r>
              <a:rPr lang="es-CO" dirty="0" err="1"/>
              <a:t>compra_id</a:t>
            </a:r>
            <a:r>
              <a:rPr lang="es-CO" dirty="0"/>
              <a:t>": 102,</a:t>
            </a:r>
          </a:p>
          <a:p>
            <a:r>
              <a:rPr lang="es-CO" dirty="0"/>
              <a:t>  "fecha": "2026-02-10",</a:t>
            </a:r>
          </a:p>
          <a:p>
            <a:r>
              <a:rPr lang="es-CO" dirty="0"/>
              <a:t>  "cliente": {</a:t>
            </a:r>
          </a:p>
          <a:p>
            <a:r>
              <a:rPr lang="es-CO" dirty="0"/>
              <a:t>    "</a:t>
            </a:r>
            <a:r>
              <a:rPr lang="es-CO" dirty="0" err="1"/>
              <a:t>dni</a:t>
            </a:r>
            <a:r>
              <a:rPr lang="es-CO" dirty="0"/>
              <a:t>": "123456",</a:t>
            </a:r>
          </a:p>
          <a:p>
            <a:r>
              <a:rPr lang="es-CO" dirty="0"/>
              <a:t>    "nombre": "Juan",</a:t>
            </a:r>
          </a:p>
          <a:p>
            <a:r>
              <a:rPr lang="es-CO" dirty="0"/>
              <a:t>    "apellidos": "Pérez"</a:t>
            </a:r>
          </a:p>
          <a:p>
            <a:r>
              <a:rPr lang="es-CO" dirty="0"/>
              <a:t>  },</a:t>
            </a:r>
          </a:p>
          <a:p>
            <a:r>
              <a:rPr lang="es-CO" dirty="0"/>
              <a:t>  "</a:t>
            </a:r>
            <a:r>
              <a:rPr lang="es-CO" dirty="0" err="1"/>
              <a:t>items</a:t>
            </a:r>
            <a:r>
              <a:rPr lang="es-CO" dirty="0"/>
              <a:t>": [</a:t>
            </a:r>
          </a:p>
          <a:p>
            <a:r>
              <a:rPr lang="es-CO" dirty="0"/>
              <a:t>    {</a:t>
            </a:r>
          </a:p>
          <a:p>
            <a:r>
              <a:rPr lang="es-CO" dirty="0"/>
              <a:t>      "producto": { "</a:t>
            </a:r>
            <a:r>
              <a:rPr lang="es-CO" dirty="0" err="1"/>
              <a:t>codigo</a:t>
            </a:r>
            <a:r>
              <a:rPr lang="es-CO" dirty="0"/>
              <a:t>": "P01", "nombre": "Teclado" },</a:t>
            </a:r>
          </a:p>
          <a:p>
            <a:r>
              <a:rPr lang="es-CO" dirty="0"/>
              <a:t>      "</a:t>
            </a:r>
            <a:r>
              <a:rPr lang="es-CO" dirty="0" err="1"/>
              <a:t>precio_unitario</a:t>
            </a:r>
            <a:r>
              <a:rPr lang="es-CO" dirty="0"/>
              <a:t>": 50,</a:t>
            </a:r>
          </a:p>
          <a:p>
            <a:r>
              <a:rPr lang="es-CO" dirty="0"/>
              <a:t>      "cantidad": 1,</a:t>
            </a:r>
          </a:p>
          <a:p>
            <a:r>
              <a:rPr lang="es-CO" dirty="0"/>
              <a:t>      "proveedor": { "</a:t>
            </a:r>
            <a:r>
              <a:rPr lang="es-CO" dirty="0" err="1"/>
              <a:t>nif</a:t>
            </a:r>
            <a:r>
              <a:rPr lang="es-CO" dirty="0"/>
              <a:t>": "9001", "nombre": "</a:t>
            </a:r>
            <a:r>
              <a:rPr lang="es-CO" dirty="0" err="1"/>
              <a:t>ProveedorTech</a:t>
            </a:r>
            <a:r>
              <a:rPr lang="es-CO" dirty="0"/>
              <a:t>" }</a:t>
            </a:r>
          </a:p>
          <a:p>
            <a:r>
              <a:rPr lang="es-CO" dirty="0"/>
              <a:t>    }</a:t>
            </a:r>
          </a:p>
          <a:p>
            <a:r>
              <a:rPr lang="es-CO" dirty="0"/>
              <a:t>  ]</a:t>
            </a:r>
          </a:p>
          <a:p>
            <a:r>
              <a:rPr lang="es-C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1013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3A023-E776-4DBF-B624-FA13AC9C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Única solución 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8617F-A50C-4BD0-AF77-47902F2A0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¿Por qué NO hay una única respuesta?</a:t>
            </a:r>
          </a:p>
          <a:p>
            <a:pPr marL="0" indent="0">
              <a:buNone/>
            </a:pPr>
            <a:r>
              <a:rPr lang="es-ES" dirty="0"/>
              <a:t>Porque el diseño correcto depende de </a:t>
            </a:r>
            <a:r>
              <a:rPr lang="es-ES" b="1" dirty="0"/>
              <a:t>qué pregunta responde más el sistema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b="1" dirty="0"/>
              <a:t>Si el sistema se centra en…</a:t>
            </a:r>
          </a:p>
          <a:p>
            <a:pPr marL="0" indent="0">
              <a:buNone/>
            </a:pPr>
            <a:r>
              <a:rPr lang="es-ES" dirty="0"/>
              <a:t>✅ </a:t>
            </a:r>
            <a:r>
              <a:rPr lang="es-ES" b="1" dirty="0"/>
              <a:t>Ver compras completas</a:t>
            </a:r>
            <a:r>
              <a:rPr lang="es-ES" dirty="0"/>
              <a:t> (cliente + productos + proveedor)</a:t>
            </a:r>
            <a:br>
              <a:rPr lang="es-ES" dirty="0"/>
            </a:br>
            <a:r>
              <a:rPr lang="es-ES" dirty="0"/>
              <a:t>➡️ </a:t>
            </a:r>
            <a:r>
              <a:rPr lang="es-ES" b="1" dirty="0"/>
              <a:t>Embebido</a:t>
            </a:r>
            <a:r>
              <a:rPr lang="es-ES" dirty="0"/>
              <a:t> es mejor.</a:t>
            </a:r>
          </a:p>
          <a:p>
            <a:pPr marL="0" indent="0">
              <a:buNone/>
            </a:pPr>
            <a:r>
              <a:rPr lang="es-ES" dirty="0"/>
              <a:t>✅ </a:t>
            </a:r>
            <a:r>
              <a:rPr lang="es-ES" b="1" dirty="0"/>
              <a:t>Administrar proveedores</a:t>
            </a:r>
            <a:r>
              <a:rPr lang="es-ES" dirty="0"/>
              <a:t> (buscar proveedor, editarlo, listar sus productos, reportes por proveedor)</a:t>
            </a:r>
            <a:br>
              <a:rPr lang="es-ES" dirty="0"/>
            </a:br>
            <a:r>
              <a:rPr lang="es-ES" dirty="0"/>
              <a:t>➡️ </a:t>
            </a:r>
            <a:r>
              <a:rPr lang="es-ES" b="1" dirty="0"/>
              <a:t>Referenciado</a:t>
            </a:r>
            <a:r>
              <a:rPr lang="es-ES" dirty="0"/>
              <a:t> es mejor.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4447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3A023-E776-4DBF-B624-FA13AC9C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Embebido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BE24471-277B-455C-B2DF-9B7006A3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6516"/>
          </a:xfrm>
        </p:spPr>
        <p:txBody>
          <a:bodyPr/>
          <a:lstStyle/>
          <a:p>
            <a:r>
              <a:rPr lang="es-ES" b="1" dirty="0"/>
              <a:t>Embebido</a:t>
            </a:r>
            <a:r>
              <a:rPr lang="es-ES" dirty="0"/>
              <a:t> = “guardar dentro del mismo documento” los datos que normalmente se consultan juntos.</a:t>
            </a:r>
          </a:p>
          <a:p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75A370E-AD19-4346-ABBE-98ABB8BF9DBD}"/>
              </a:ext>
            </a:extLst>
          </p:cNvPr>
          <p:cNvSpPr txBox="1"/>
          <p:nvPr/>
        </p:nvSpPr>
        <p:spPr>
          <a:xfrm>
            <a:off x="3748368" y="2877288"/>
            <a:ext cx="6098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{</a:t>
            </a:r>
          </a:p>
          <a:p>
            <a:r>
              <a:rPr lang="es-CO" dirty="0"/>
              <a:t>  "</a:t>
            </a:r>
            <a:r>
              <a:rPr lang="es-CO" dirty="0" err="1"/>
              <a:t>compra_id</a:t>
            </a:r>
            <a:r>
              <a:rPr lang="es-CO" dirty="0"/>
              <a:t>": 102,</a:t>
            </a:r>
          </a:p>
          <a:p>
            <a:r>
              <a:rPr lang="es-CO" dirty="0"/>
              <a:t>  "cliente": { "</a:t>
            </a:r>
            <a:r>
              <a:rPr lang="es-CO" dirty="0" err="1"/>
              <a:t>dni</a:t>
            </a:r>
            <a:r>
              <a:rPr lang="es-CO" dirty="0"/>
              <a:t>": "123", "nombre": "Juan" },</a:t>
            </a:r>
          </a:p>
          <a:p>
            <a:r>
              <a:rPr lang="es-CO" dirty="0"/>
              <a:t>  "</a:t>
            </a:r>
            <a:r>
              <a:rPr lang="es-CO" dirty="0" err="1"/>
              <a:t>items</a:t>
            </a:r>
            <a:r>
              <a:rPr lang="es-CO" dirty="0"/>
              <a:t>": [</a:t>
            </a:r>
          </a:p>
          <a:p>
            <a:r>
              <a:rPr lang="es-CO" dirty="0"/>
              <a:t>    {</a:t>
            </a:r>
          </a:p>
          <a:p>
            <a:r>
              <a:rPr lang="es-CO" dirty="0"/>
              <a:t>      "producto": { "</a:t>
            </a:r>
            <a:r>
              <a:rPr lang="es-CO" dirty="0" err="1"/>
              <a:t>codigo</a:t>
            </a:r>
            <a:r>
              <a:rPr lang="es-CO" dirty="0"/>
              <a:t>": "P01", "nombre": "Teclado" },</a:t>
            </a:r>
          </a:p>
          <a:p>
            <a:r>
              <a:rPr lang="es-CO" dirty="0"/>
              <a:t>      "</a:t>
            </a:r>
            <a:r>
              <a:rPr lang="es-CO" dirty="0" err="1"/>
              <a:t>precio_unitario</a:t>
            </a:r>
            <a:r>
              <a:rPr lang="es-CO" dirty="0"/>
              <a:t>": 50,</a:t>
            </a:r>
          </a:p>
          <a:p>
            <a:r>
              <a:rPr lang="es-CO" dirty="0"/>
              <a:t>      "cantidad": 1,</a:t>
            </a:r>
          </a:p>
          <a:p>
            <a:r>
              <a:rPr lang="es-CO" dirty="0"/>
              <a:t>      "proveedor": { "</a:t>
            </a:r>
            <a:r>
              <a:rPr lang="es-CO" dirty="0" err="1"/>
              <a:t>nif</a:t>
            </a:r>
            <a:r>
              <a:rPr lang="es-CO" dirty="0"/>
              <a:t>": "9001", "nombre": "</a:t>
            </a:r>
            <a:r>
              <a:rPr lang="es-CO" dirty="0" err="1"/>
              <a:t>ProveedorTech</a:t>
            </a:r>
            <a:r>
              <a:rPr lang="es-CO" dirty="0"/>
              <a:t>" }</a:t>
            </a:r>
          </a:p>
          <a:p>
            <a:r>
              <a:rPr lang="es-CO" dirty="0"/>
              <a:t>    }</a:t>
            </a:r>
          </a:p>
          <a:p>
            <a:r>
              <a:rPr lang="es-CO" dirty="0"/>
              <a:t>  ]</a:t>
            </a:r>
          </a:p>
          <a:p>
            <a:r>
              <a:rPr lang="es-C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793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6BCFC-90F9-435C-AE2C-9B673597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Referenciado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C4C3E-6C65-4157-B5CA-727337E85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13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Referenciado</a:t>
            </a:r>
            <a:r>
              <a:rPr lang="es-ES" dirty="0"/>
              <a:t> = guardar solo el </a:t>
            </a:r>
            <a:r>
              <a:rPr lang="es-ES" b="1" dirty="0"/>
              <a:t>id</a:t>
            </a:r>
            <a:r>
              <a:rPr lang="es-ES" dirty="0"/>
              <a:t> (o clave) y tener los datos completos en </a:t>
            </a:r>
            <a:r>
              <a:rPr lang="es-ES" b="1" dirty="0"/>
              <a:t>otra colección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2541E8-33CD-434B-BA25-9B3B00E0A1E1}"/>
              </a:ext>
            </a:extLst>
          </p:cNvPr>
          <p:cNvSpPr txBox="1"/>
          <p:nvPr/>
        </p:nvSpPr>
        <p:spPr>
          <a:xfrm>
            <a:off x="1139639" y="3076555"/>
            <a:ext cx="6098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{</a:t>
            </a:r>
          </a:p>
          <a:p>
            <a:r>
              <a:rPr lang="es-CO" dirty="0"/>
              <a:t>  "</a:t>
            </a:r>
            <a:r>
              <a:rPr lang="es-CO" dirty="0" err="1"/>
              <a:t>compra_id</a:t>
            </a:r>
            <a:r>
              <a:rPr lang="es-CO" dirty="0"/>
              <a:t>": 102,</a:t>
            </a:r>
          </a:p>
          <a:p>
            <a:r>
              <a:rPr lang="es-CO" dirty="0"/>
              <a:t>  "</a:t>
            </a:r>
            <a:r>
              <a:rPr lang="es-CO" dirty="0" err="1"/>
              <a:t>cliente_id</a:t>
            </a:r>
            <a:r>
              <a:rPr lang="es-CO" dirty="0"/>
              <a:t>": "C01",</a:t>
            </a:r>
          </a:p>
          <a:p>
            <a:r>
              <a:rPr lang="es-CO" dirty="0"/>
              <a:t>  "</a:t>
            </a:r>
            <a:r>
              <a:rPr lang="es-CO" dirty="0" err="1"/>
              <a:t>items</a:t>
            </a:r>
            <a:r>
              <a:rPr lang="es-CO" dirty="0"/>
              <a:t>": [</a:t>
            </a:r>
          </a:p>
          <a:p>
            <a:r>
              <a:rPr lang="es-CO" dirty="0"/>
              <a:t>    {</a:t>
            </a:r>
          </a:p>
          <a:p>
            <a:r>
              <a:rPr lang="es-CO" dirty="0"/>
              <a:t>      "</a:t>
            </a:r>
            <a:r>
              <a:rPr lang="es-CO" dirty="0" err="1"/>
              <a:t>producto_codigo</a:t>
            </a:r>
            <a:r>
              <a:rPr lang="es-CO" dirty="0"/>
              <a:t>": "P01",</a:t>
            </a:r>
          </a:p>
          <a:p>
            <a:r>
              <a:rPr lang="es-CO" dirty="0"/>
              <a:t>      "</a:t>
            </a:r>
            <a:r>
              <a:rPr lang="es-CO" dirty="0" err="1"/>
              <a:t>precio_unitario</a:t>
            </a:r>
            <a:r>
              <a:rPr lang="es-CO" dirty="0"/>
              <a:t>": 50,</a:t>
            </a:r>
          </a:p>
          <a:p>
            <a:r>
              <a:rPr lang="es-CO" dirty="0"/>
              <a:t>      "cantidad": 1,</a:t>
            </a:r>
          </a:p>
          <a:p>
            <a:r>
              <a:rPr lang="es-CO" dirty="0"/>
              <a:t>      "</a:t>
            </a:r>
            <a:r>
              <a:rPr lang="es-CO" dirty="0" err="1"/>
              <a:t>proveedor_nif</a:t>
            </a:r>
            <a:r>
              <a:rPr lang="es-CO" dirty="0"/>
              <a:t>": "9001"</a:t>
            </a:r>
          </a:p>
          <a:p>
            <a:r>
              <a:rPr lang="es-CO" dirty="0"/>
              <a:t>    }</a:t>
            </a:r>
          </a:p>
          <a:p>
            <a:r>
              <a:rPr lang="es-CO" dirty="0"/>
              <a:t>  ]</a:t>
            </a:r>
          </a:p>
          <a:p>
            <a:r>
              <a:rPr lang="es-CO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D3B3C2-2B1F-4D02-85D8-D08EFE4C03CC}"/>
              </a:ext>
            </a:extLst>
          </p:cNvPr>
          <p:cNvSpPr txBox="1"/>
          <p:nvPr/>
        </p:nvSpPr>
        <p:spPr>
          <a:xfrm>
            <a:off x="7540439" y="3261221"/>
            <a:ext cx="4131609" cy="1478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{</a:t>
            </a:r>
          </a:p>
          <a:p>
            <a:r>
              <a:rPr lang="es-CO" dirty="0"/>
              <a:t>  "</a:t>
            </a:r>
            <a:r>
              <a:rPr lang="es-CO" dirty="0" err="1"/>
              <a:t>nif</a:t>
            </a:r>
            <a:r>
              <a:rPr lang="es-CO" dirty="0"/>
              <a:t>": "9001",</a:t>
            </a:r>
          </a:p>
          <a:p>
            <a:r>
              <a:rPr lang="es-CO" dirty="0"/>
              <a:t>  "nombre": "</a:t>
            </a:r>
            <a:r>
              <a:rPr lang="es-CO" dirty="0" err="1"/>
              <a:t>ProveedorTech</a:t>
            </a:r>
            <a:r>
              <a:rPr lang="es-CO" dirty="0"/>
              <a:t>",</a:t>
            </a:r>
          </a:p>
          <a:p>
            <a:r>
              <a:rPr lang="es-CO" dirty="0"/>
              <a:t>  "</a:t>
            </a:r>
            <a:r>
              <a:rPr lang="es-CO" dirty="0" err="1"/>
              <a:t>direccion</a:t>
            </a:r>
            <a:r>
              <a:rPr lang="es-CO" dirty="0"/>
              <a:t>": "Zona Industrial"</a:t>
            </a:r>
          </a:p>
          <a:p>
            <a:r>
              <a:rPr lang="es-CO" dirty="0"/>
              <a:t>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A2040A-6111-4C90-96DA-C31F2F66A4D4}"/>
              </a:ext>
            </a:extLst>
          </p:cNvPr>
          <p:cNvSpPr txBox="1"/>
          <p:nvPr/>
        </p:nvSpPr>
        <p:spPr>
          <a:xfrm>
            <a:off x="7540439" y="2891889"/>
            <a:ext cx="1912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Proveedores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513E39-4A73-4F3F-827D-66495855BFAC}"/>
              </a:ext>
            </a:extLst>
          </p:cNvPr>
          <p:cNvSpPr txBox="1"/>
          <p:nvPr/>
        </p:nvSpPr>
        <p:spPr>
          <a:xfrm>
            <a:off x="838200" y="2653359"/>
            <a:ext cx="1294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Compra</a:t>
            </a:r>
          </a:p>
        </p:txBody>
      </p:sp>
    </p:spTree>
    <p:extLst>
      <p:ext uri="{BB962C8B-B14F-4D97-AF65-F5344CB8AC3E}">
        <p14:creationId xmlns:p14="http://schemas.microsoft.com/office/powerpoint/2010/main" val="4985846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1345</Words>
  <Application>Microsoft Office PowerPoint</Application>
  <PresentationFormat>Panorámica</PresentationFormat>
  <Paragraphs>193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Wingdings</vt:lpstr>
      <vt:lpstr>Tema de Office</vt:lpstr>
      <vt:lpstr>Presentación de PowerPoint</vt:lpstr>
      <vt:lpstr>Objetivo</vt:lpstr>
      <vt:lpstr>Nivelación MER/SQL: el puente para entender NoSQL</vt:lpstr>
      <vt:lpstr>Cambiando de enfoque: NoSQL</vt:lpstr>
      <vt:lpstr>Presentación de PowerPoint</vt:lpstr>
      <vt:lpstr>Porque aparece NoSQL</vt:lpstr>
      <vt:lpstr>Presentación de PowerPoint</vt:lpstr>
      <vt:lpstr>Presentación de PowerPoint</vt:lpstr>
      <vt:lpstr>¿En qué formato viajan los datos?</vt:lpstr>
      <vt:lpstr>Abstracción documentos: Json</vt:lpstr>
      <vt:lpstr>Json</vt:lpstr>
      <vt:lpstr>JSON: clave–valor</vt:lpstr>
      <vt:lpstr>Ventajas y desventajas</vt:lpstr>
      <vt:lpstr>Diseño comparado SQL vs NoSQL</vt:lpstr>
      <vt:lpstr>Enfoque NoSQL (paso a paso “manual”)</vt:lpstr>
      <vt:lpstr>Paso 1: ¿Qué información se consulta junta?</vt:lpstr>
      <vt:lpstr>Presentación de PowerPoint</vt:lpstr>
      <vt:lpstr>Paso 3: ¿Qué se embebe?</vt:lpstr>
      <vt:lpstr>Documento</vt:lpstr>
      <vt:lpstr>Única solución ?</vt:lpstr>
      <vt:lpstr>Embebido</vt:lpstr>
      <vt:lpstr>Referenciado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BEDOYA</dc:creator>
  <cp:lastModifiedBy>MAURICIO BEDOYA</cp:lastModifiedBy>
  <cp:revision>22</cp:revision>
  <dcterms:created xsi:type="dcterms:W3CDTF">2026-02-08T04:24:39Z</dcterms:created>
  <dcterms:modified xsi:type="dcterms:W3CDTF">2026-02-28T16:26:47Z</dcterms:modified>
</cp:coreProperties>
</file>