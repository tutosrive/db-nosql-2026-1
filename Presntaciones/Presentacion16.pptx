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2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67" r:id="rId3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URICIO BEDOYA" initials="MB" lastIdx="1" clrIdx="0">
    <p:extLst>
      <p:ext uri="{19B8F6BF-5375-455C-9EA6-DF929625EA0E}">
        <p15:presenceInfo xmlns:p15="http://schemas.microsoft.com/office/powerpoint/2012/main" userId="c390cb56b1af1d0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6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1T16:41:45.403" idx="1">
    <p:pos x="10" y="10"/>
    <p:text/>
    <p:extLst>
      <p:ext uri="{C676402C-5697-4E1C-873F-D02D1690AC5C}">
        <p15:threadingInfo xmlns:p15="http://schemas.microsoft.com/office/powerpoint/2012/main" timeZoneBias="30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226E6A-3835-4BE4-B570-3EC57F44F8D1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91411-707A-4F80-9C0F-B51B3DA67E2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5600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081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23061-45B3-49A5-BCED-DB063BF7D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6BD1ED-A527-40D0-A404-DC4796803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6DF55A-8F2B-4F77-AF54-9BBFA26B9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80C2-BAB0-4137-BE25-C8658C599805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E0CF4D-2E3C-4F81-BF33-4AB611B5F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9D70F5-2D2E-4865-AC6D-A2E44E3C2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1EF2-548E-49AE-8188-EA8E6C29BD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67841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2B8898-F34A-4D1F-ABF8-520456783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161289-59B4-4CDA-BCCD-7AA0406B7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4ADC15-EE77-4BBB-ABC4-63BF6625F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80C2-BAB0-4137-BE25-C8658C599805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CFA91D-6FB2-4134-B1B7-903B8A77F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4A5CAA-B783-4AF9-8D61-B79080CEA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1EF2-548E-49AE-8188-EA8E6C29BD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4619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837500-0A59-43CE-B5EE-BF1D51140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BC44FA-0D99-4B04-AECA-107882D84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5556AE-1E81-4B75-8135-08ED2A598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80C2-BAB0-4137-BE25-C8658C599805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1407A2-D1DB-4A34-A5E5-4F37EAA46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82B0F2-BFFB-4870-AB81-2D10A7E27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1EF2-548E-49AE-8188-EA8E6C29BD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1397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7E3CFB-3C0B-4E30-9E7A-F37E3D9A1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E9B2CA-80E3-43DC-A18F-7815957FB9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AA0B35-5856-42AB-A57E-C03B4B6F5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CE2EE4-FB49-4E46-8006-D91D26808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80C2-BAB0-4137-BE25-C8658C599805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BBF6A3-EFA1-47C2-BDD3-6130E78B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B09624-1CE1-4309-BEE8-C9B1B0BF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1EF2-548E-49AE-8188-EA8E6C29BD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3018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C4729-2E24-4837-8237-4681E7092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1403A2-BCBC-497D-93A1-D8432BF4F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21A9DE8-3FAD-4EEA-8866-F44A581F3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4809F5A-D5CF-4C9F-A862-8ED76B436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73CF631-492C-4693-84D1-79964A47A0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88220E9-D142-47EC-863B-70BF49D1E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80C2-BAB0-4137-BE25-C8658C599805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E8CCD55-2E37-4B41-987F-7C8CD138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D72D14D-A4EC-41B5-98FF-9D4DB1E83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1EF2-548E-49AE-8188-EA8E6C29BD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6994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E16EAA-5BED-49CA-A41C-9FE0CA685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312F43C-4D43-46E9-90EE-D02B696B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80C2-BAB0-4137-BE25-C8658C599805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ED8998C-1EAE-48D5-BE84-0C5090C4D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CA3DD04-0701-421F-89BD-DD82E48B9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1EF2-548E-49AE-8188-EA8E6C29BD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395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ABC9E91-A5EB-4FD4-9404-C11B79276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80C2-BAB0-4137-BE25-C8658C599805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146821-46E1-467A-AE04-0572185FD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727126-2618-4D6E-9718-C58F0940A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1EF2-548E-49AE-8188-EA8E6C29BD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1457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9C98E8-1E8C-4114-845C-8D5C3B46E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BBED20-EA9C-41C0-999E-4899BD931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2A66A2-EC6E-4233-BD30-92D57F047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55CBC9-0852-48E1-99DA-BC279CDC7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80C2-BAB0-4137-BE25-C8658C599805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F40F43-BA35-4C2C-A85B-D0394BCCD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D26776-36D9-481B-9BE3-294A52DC3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1EF2-548E-49AE-8188-EA8E6C29BD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9414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85D98-E4F1-45E9-83BC-0758107A1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524412D-3329-40E0-924D-86CF60687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670204-4A33-4314-ADBC-720D6E2D5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36FEC6-384D-49B3-BDAC-8A81A214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80C2-BAB0-4137-BE25-C8658C599805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D81CFFB-DA29-45D1-8993-B4F823776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9A8197-52E7-4AC8-A161-F1AA45AFB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1EF2-548E-49AE-8188-EA8E6C29BD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911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BE1D5-E5FD-4C75-A0E7-15072BD2B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7FEC52B-E670-4D45-B743-B0723780D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141A4-94A3-4149-825A-E1497D58E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80C2-BAB0-4137-BE25-C8658C599805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3982C7-3AB8-41CF-8EC1-F664AF0D2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A9D0B4-81D7-4C1F-A133-0DDED6677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1EF2-548E-49AE-8188-EA8E6C29BD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683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DFBD2BD-F96C-4846-82E1-CFFDBB6B9B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40233B-6E1C-48E6-BCA7-F78863B35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48C1D7-4BB6-49A1-A269-C403BD699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80C2-BAB0-4137-BE25-C8658C599805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091C2C-C647-42BC-AB18-6A2AA7DFD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1558BF-EA38-4048-976D-66F444A52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1EF2-548E-49AE-8188-EA8E6C29BD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3281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1223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9006970-D950-42D4-A1D0-F2F6D9977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4A90C0-938D-4EF8-99B7-B319CF50A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10E0FB-593B-4A1E-B90F-0B72D52350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580C2-BAB0-4137-BE25-C8658C599805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909309-D1E6-4265-8494-1F94613AD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F28493-3C1D-4CCE-83F4-247000E4BB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71EF2-548E-49AE-8188-EA8E6C29BD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716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mongodb.com/es/docs/manual/reference/bson-types/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FC1D5-4DB3-4BF6-8E61-0AD2DD4031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248EB2-F266-4491-A723-0D1DA6D420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61326BA-9206-484C-AA74-318CE4FC8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526"/>
            <a:ext cx="12192000" cy="638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964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FC1D5-4DB3-4BF6-8E61-0AD2DD4031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248EB2-F266-4491-A723-0D1DA6D420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BA2E452-DEC0-4BAE-9A6D-E77736399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428"/>
            <a:ext cx="12192000" cy="645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39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FC1D5-4DB3-4BF6-8E61-0AD2DD4031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248EB2-F266-4491-A723-0D1DA6D420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BA2E452-DEC0-4BAE-9A6D-E77736399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428"/>
            <a:ext cx="12192000" cy="645514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C915EE-7B11-4C3F-87D7-F597C91A9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1111"/>
            <a:ext cx="12192000" cy="617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558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FC1D5-4DB3-4BF6-8E61-0AD2DD4031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248EB2-F266-4491-A723-0D1DA6D420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BA2E452-DEC0-4BAE-9A6D-E77736399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428"/>
            <a:ext cx="12192000" cy="645514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C915EE-7B11-4C3F-87D7-F597C91A9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1111"/>
            <a:ext cx="12192000" cy="617577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392201F-4672-471A-9B79-F7EC9A255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7586"/>
            <a:ext cx="12192000" cy="632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349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FC1D5-4DB3-4BF6-8E61-0AD2DD4031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248EB2-F266-4491-A723-0D1DA6D420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BA2E452-DEC0-4BAE-9A6D-E77736399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428"/>
            <a:ext cx="12192000" cy="645514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C915EE-7B11-4C3F-87D7-F597C91A9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1111"/>
            <a:ext cx="12192000" cy="617577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392201F-4672-471A-9B79-F7EC9A255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7586"/>
            <a:ext cx="12192000" cy="632282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79FD108-B00B-4B6E-B555-659320B0E3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6007"/>
            <a:ext cx="12192000" cy="636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55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FC1D5-4DB3-4BF6-8E61-0AD2DD4031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248EB2-F266-4491-A723-0D1DA6D420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BA2E452-DEC0-4BAE-9A6D-E77736399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428"/>
            <a:ext cx="12192000" cy="645514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C915EE-7B11-4C3F-87D7-F597C91A9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1111"/>
            <a:ext cx="12192000" cy="617577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392201F-4672-471A-9B79-F7EC9A255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7586"/>
            <a:ext cx="12192000" cy="632282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79FD108-B00B-4B6E-B555-659320B0E3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6007"/>
            <a:ext cx="12192000" cy="636598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F6AFB9D-CAA5-4895-9866-3B6E7AB500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38" y="271022"/>
            <a:ext cx="12165123" cy="6315956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290B715F-D500-4F12-B6D2-4CC7593178DA}"/>
              </a:ext>
            </a:extLst>
          </p:cNvPr>
          <p:cNvSpPr/>
          <p:nvPr/>
        </p:nvSpPr>
        <p:spPr>
          <a:xfrm>
            <a:off x="5029200" y="905107"/>
            <a:ext cx="2070847" cy="3992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CE1A4AD-7C05-4E63-AC25-CBF7C0E2374C}"/>
              </a:ext>
            </a:extLst>
          </p:cNvPr>
          <p:cNvSpPr txBox="1"/>
          <p:nvPr/>
        </p:nvSpPr>
        <p:spPr>
          <a:xfrm>
            <a:off x="5348568" y="915045"/>
            <a:ext cx="14948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MATRICES</a:t>
            </a:r>
            <a:endParaRPr lang="es-CO" sz="2000" b="1" dirty="0"/>
          </a:p>
        </p:txBody>
      </p:sp>
    </p:spTree>
    <p:extLst>
      <p:ext uri="{BB962C8B-B14F-4D97-AF65-F5344CB8AC3E}">
        <p14:creationId xmlns:p14="http://schemas.microsoft.com/office/powerpoint/2010/main" val="377105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EAC1180-1665-43AA-A60B-FAEB1BBB9F7C}"/>
              </a:ext>
            </a:extLst>
          </p:cNvPr>
          <p:cNvSpPr/>
          <p:nvPr/>
        </p:nvSpPr>
        <p:spPr>
          <a:xfrm>
            <a:off x="129988" y="107576"/>
            <a:ext cx="11949953" cy="6642848"/>
          </a:xfrm>
          <a:prstGeom prst="rect">
            <a:avLst/>
          </a:prstGeom>
          <a:solidFill>
            <a:schemeClr val="bg1"/>
          </a:solidFill>
          <a:ln w="127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Use 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BE5430B-4B76-408C-B0F0-CE32C9BE3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88" y="1304000"/>
            <a:ext cx="11649635" cy="542378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1E14499B-5880-476D-90BB-07EE2BFB74A5}"/>
              </a:ext>
            </a:extLst>
          </p:cNvPr>
          <p:cNvSpPr txBox="1"/>
          <p:nvPr/>
        </p:nvSpPr>
        <p:spPr>
          <a:xfrm>
            <a:off x="242046" y="548995"/>
            <a:ext cx="42019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Incrustar un documento</a:t>
            </a:r>
            <a:endParaRPr lang="es-CO" sz="32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DC1419C-131D-4EB3-9CC3-F29AC1B9D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88" y="2299333"/>
            <a:ext cx="11649635" cy="542378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62621A52-47F0-497F-8B9D-E92790286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387" y="4443988"/>
            <a:ext cx="11649635" cy="834123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44D2232A-D559-4BEF-8845-84696652E189}"/>
              </a:ext>
            </a:extLst>
          </p:cNvPr>
          <p:cNvSpPr txBox="1"/>
          <p:nvPr/>
        </p:nvSpPr>
        <p:spPr>
          <a:xfrm>
            <a:off x="282389" y="3554319"/>
            <a:ext cx="31566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Incrustar una lista</a:t>
            </a:r>
            <a:endParaRPr lang="es-CO" sz="3200" dirty="0"/>
          </a:p>
        </p:txBody>
      </p:sp>
    </p:spTree>
    <p:extLst>
      <p:ext uri="{BB962C8B-B14F-4D97-AF65-F5344CB8AC3E}">
        <p14:creationId xmlns:p14="http://schemas.microsoft.com/office/powerpoint/2010/main" val="3285971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F6C13D5-D682-4B77-B5EA-5D1E1CAE1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06" y="308915"/>
            <a:ext cx="8108593" cy="624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45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118E39D-99CC-4C53-A2C5-0FE6B29B62EC}"/>
              </a:ext>
            </a:extLst>
          </p:cNvPr>
          <p:cNvSpPr txBox="1"/>
          <p:nvPr/>
        </p:nvSpPr>
        <p:spPr>
          <a:xfrm>
            <a:off x="735981" y="624468"/>
            <a:ext cx="3079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Buscar dentro de la estructura: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F9DBCE-65AE-45A3-8441-2173C1CBE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81" y="1212344"/>
            <a:ext cx="7627434" cy="518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089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2BF16C8-282B-49AA-B603-0CC895030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405"/>
            <a:ext cx="12192000" cy="639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848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hlinkClick r:id="rId2"/>
            <a:extLst>
              <a:ext uri="{FF2B5EF4-FFF2-40B4-BE49-F238E27FC236}">
                <a16:creationId xmlns:a16="http://schemas.microsoft.com/office/drawing/2014/main" id="{083790E1-E166-47F7-8AAB-CBBFBA735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070977" cy="6158753"/>
          </a:xfrm>
          <a:prstGeom prst="rect">
            <a:avLst/>
          </a:prstGeom>
        </p:spPr>
      </p:pic>
      <p:sp>
        <p:nvSpPr>
          <p:cNvPr id="6" name="CuadroTexto 5">
            <a:hlinkClick r:id="rId2"/>
            <a:extLst>
              <a:ext uri="{FF2B5EF4-FFF2-40B4-BE49-F238E27FC236}">
                <a16:creationId xmlns:a16="http://schemas.microsoft.com/office/drawing/2014/main" id="{86170246-9258-470D-AF1E-33BC80E3C52A}"/>
              </a:ext>
            </a:extLst>
          </p:cNvPr>
          <p:cNvSpPr txBox="1"/>
          <p:nvPr/>
        </p:nvSpPr>
        <p:spPr>
          <a:xfrm>
            <a:off x="8108577" y="1075765"/>
            <a:ext cx="3695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 err="1"/>
              <a:t>Click</a:t>
            </a:r>
            <a:r>
              <a:rPr lang="es-CO" b="1" dirty="0"/>
              <a:t> Aquí : </a:t>
            </a:r>
            <a:r>
              <a:rPr lang="es-CO" b="1" dirty="0" err="1"/>
              <a:t>MongoDb</a:t>
            </a:r>
            <a:r>
              <a:rPr lang="es-CO" b="1" dirty="0"/>
              <a:t> Tipos de Datos</a:t>
            </a:r>
          </a:p>
        </p:txBody>
      </p:sp>
    </p:spTree>
    <p:extLst>
      <p:ext uri="{BB962C8B-B14F-4D97-AF65-F5344CB8AC3E}">
        <p14:creationId xmlns:p14="http://schemas.microsoft.com/office/powerpoint/2010/main" val="3415583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69F28-A44C-4441-99D2-22B4C82B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F81F321-D4C4-415C-873F-64EF906715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811" y="100853"/>
            <a:ext cx="12522694" cy="6656294"/>
          </a:xfrm>
        </p:spPr>
      </p:pic>
    </p:spTree>
    <p:extLst>
      <p:ext uri="{BB962C8B-B14F-4D97-AF65-F5344CB8AC3E}">
        <p14:creationId xmlns:p14="http://schemas.microsoft.com/office/powerpoint/2010/main" val="2650875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69F28-A44C-4441-99D2-22B4C82B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2402B5-936D-457C-A5AD-CF1F0ADEB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9181224-1297-4B62-87AC-A7A618DD7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803"/>
            <a:ext cx="12192000" cy="635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441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69F28-A44C-4441-99D2-22B4C82B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2402B5-936D-457C-A5AD-CF1F0ADEB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7FD8EF6-9A0C-421B-8826-6061B4AFE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961"/>
            <a:ext cx="12361727" cy="649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266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69F28-A44C-4441-99D2-22B4C82B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2402B5-936D-457C-A5AD-CF1F0ADEB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52928C8-2702-4EAB-A563-2CF393887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088906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84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69F28-A44C-4441-99D2-22B4C82B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2402B5-936D-457C-A5AD-CF1F0ADEB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E082F0F-ABF8-4420-82F7-ECDE12F4F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843"/>
            <a:ext cx="12192000" cy="648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683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69F28-A44C-4441-99D2-22B4C82B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2402B5-936D-457C-A5AD-CF1F0ADEB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1744F82-7CC4-4288-8F1C-4905547CD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711"/>
            <a:ext cx="12192000" cy="643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747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69F28-A44C-4441-99D2-22B4C82B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2402B5-936D-457C-A5AD-CF1F0ADEB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CC19362-19FF-43F5-9A60-AE4822442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882"/>
            <a:ext cx="12192000" cy="644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315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69F28-A44C-4441-99D2-22B4C82B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2402B5-936D-457C-A5AD-CF1F0ADEB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75FE2D6-47B1-4921-9819-A9B4BB661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751"/>
            <a:ext cx="12192000" cy="625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748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7371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46EAA22-98DB-4726-8852-5771D6028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509"/>
            <a:ext cx="12192000" cy="644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675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A511441-12BA-4E4A-AA64-25F0C419A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324"/>
            <a:ext cx="12192000" cy="6481352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A5BBE41B-173E-9688-1433-E7D8E08C72B1}"/>
              </a:ext>
            </a:extLst>
          </p:cNvPr>
          <p:cNvSpPr/>
          <p:nvPr/>
        </p:nvSpPr>
        <p:spPr>
          <a:xfrm>
            <a:off x="2461768" y="5813552"/>
            <a:ext cx="8063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6770"/>
                </a:solidFill>
              </a:rPr>
              <a:t>La agregación convierte documentos en información para decisiones.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49599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9FE48C7-C644-48CA-8FA5-1B03D1BE3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37" y="414338"/>
            <a:ext cx="10672125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946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A511441-12BA-4E4A-AA64-25F0C419A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324"/>
            <a:ext cx="12192000" cy="6481352"/>
          </a:xfrm>
          <a:prstGeom prst="rect">
            <a:avLst/>
          </a:prstGeom>
        </p:spPr>
      </p:pic>
      <p:sp>
        <p:nvSpPr>
          <p:cNvPr id="2" name="Text 7">
            <a:extLst>
              <a:ext uri="{FF2B5EF4-FFF2-40B4-BE49-F238E27FC236}">
                <a16:creationId xmlns:a16="http://schemas.microsoft.com/office/drawing/2014/main" id="{9469FADC-1264-2982-227A-0C234F985B31}"/>
              </a:ext>
            </a:extLst>
          </p:cNvPr>
          <p:cNvSpPr/>
          <p:nvPr/>
        </p:nvSpPr>
        <p:spPr>
          <a:xfrm>
            <a:off x="8424672" y="4430776"/>
            <a:ext cx="3299968" cy="1980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rgbClr val="0B1F33"/>
                </a:solidFill>
              </a:rPr>
              <a:t>Entran</a:t>
            </a:r>
            <a:r>
              <a:rPr lang="en-US" sz="2000" dirty="0">
                <a:solidFill>
                  <a:srgbClr val="0B1F33"/>
                </a:solidFill>
              </a:rPr>
              <a:t> documentos en bruto y salen resultados limpios, ordenados o agrupados.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41169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1ADFD589-B89C-AC8F-DD0A-3AF180F6006A}"/>
              </a:ext>
            </a:extLst>
          </p:cNvPr>
          <p:cNvSpPr/>
          <p:nvPr/>
        </p:nvSpPr>
        <p:spPr>
          <a:xfrm>
            <a:off x="60960" y="107576"/>
            <a:ext cx="11958320" cy="6642848"/>
          </a:xfrm>
          <a:prstGeom prst="rect">
            <a:avLst/>
          </a:prstGeom>
          <a:solidFill>
            <a:schemeClr val="bg1"/>
          </a:solidFill>
          <a:ln w="127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27432"/>
            <a:ext cx="12191695" cy="128016"/>
          </a:xfrm>
          <a:prstGeom prst="rect">
            <a:avLst/>
          </a:prstGeom>
          <a:solidFill>
            <a:srgbClr val="2BB3C0"/>
          </a:solidFill>
          <a:ln w="12700">
            <a:solidFill>
              <a:srgbClr val="2B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" y="235756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</a:t>
            </a: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mental: </a:t>
            </a:r>
            <a:r>
              <a:rPr lang="en-US" sz="2800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</a:t>
            </a: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por etapas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0" y="235755"/>
            <a:ext cx="701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6770"/>
                </a:solidFill>
              </a:rPr>
              <a:t>Cada etapa recibe documentos y entrega documentos a la siguiente.</a:t>
            </a:r>
            <a:endParaRPr lang="en-US" sz="2000" b="1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2044598" cy="685800"/>
          </a:xfrm>
          <a:prstGeom prst="chevron">
            <a:avLst/>
          </a:prstGeom>
          <a:solidFill>
            <a:srgbClr val="2BB3C0"/>
          </a:solidFill>
          <a:ln w="12700">
            <a:solidFill>
              <a:srgbClr val="2BB3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36776"/>
            <a:ext cx="19531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$match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986430" y="1417320"/>
            <a:ext cx="2044598" cy="685800"/>
          </a:xfrm>
          <a:prstGeom prst="chevron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32150" y="1636776"/>
            <a:ext cx="19531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$project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195621" y="1417320"/>
            <a:ext cx="2044598" cy="685800"/>
          </a:xfrm>
          <a:prstGeom prst="chevron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41341" y="1636776"/>
            <a:ext cx="19531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$sort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404811" y="1417320"/>
            <a:ext cx="2044598" cy="685800"/>
          </a:xfrm>
          <a:prstGeom prst="chevron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0531" y="1636776"/>
            <a:ext cx="19531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$limit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614002" y="1417320"/>
            <a:ext cx="2044598" cy="685800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59722" y="1636776"/>
            <a:ext cx="19531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$group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8A6"/>
                </a:solidFill>
              </a:rPr>
              <a:t>04</a:t>
            </a:r>
            <a:endParaRPr lang="en-US" sz="85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0EAA0F8-B825-4DC6-6835-4FA2A3D9E233}"/>
              </a:ext>
            </a:extLst>
          </p:cNvPr>
          <p:cNvSpPr txBox="1"/>
          <p:nvPr/>
        </p:nvSpPr>
        <p:spPr>
          <a:xfrm>
            <a:off x="3340870" y="2243043"/>
            <a:ext cx="15918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 err="1">
                <a:solidFill>
                  <a:srgbClr val="111827"/>
                </a:solidFill>
              </a:rPr>
              <a:t>Selecciona</a:t>
            </a:r>
            <a:r>
              <a:rPr lang="en-US" sz="1800" dirty="0">
                <a:solidFill>
                  <a:srgbClr val="111827"/>
                </a:solidFill>
              </a:rPr>
              <a:t> o </a:t>
            </a:r>
            <a:r>
              <a:rPr lang="en-US" sz="1800" dirty="0" err="1">
                <a:solidFill>
                  <a:srgbClr val="111827"/>
                </a:solidFill>
              </a:rPr>
              <a:t>calcula</a:t>
            </a:r>
            <a:r>
              <a:rPr lang="en-US" sz="1800" dirty="0">
                <a:solidFill>
                  <a:srgbClr val="111827"/>
                </a:solidFill>
              </a:rPr>
              <a:t> campos: “</a:t>
            </a:r>
            <a:r>
              <a:rPr lang="en-US" sz="1800" dirty="0" err="1">
                <a:solidFill>
                  <a:srgbClr val="111827"/>
                </a:solidFill>
              </a:rPr>
              <a:t>qué</a:t>
            </a:r>
            <a:r>
              <a:rPr lang="en-US" sz="1800" dirty="0">
                <a:solidFill>
                  <a:srgbClr val="111827"/>
                </a:solidFill>
              </a:rPr>
              <a:t> sale”.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A7D91-4CE2-1876-0560-141BA507A36E}"/>
              </a:ext>
            </a:extLst>
          </p:cNvPr>
          <p:cNvSpPr txBox="1"/>
          <p:nvPr/>
        </p:nvSpPr>
        <p:spPr>
          <a:xfrm>
            <a:off x="6525973" y="2227854"/>
            <a:ext cx="15918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 err="1">
                <a:solidFill>
                  <a:srgbClr val="111827"/>
                </a:solidFill>
              </a:rPr>
              <a:t>Ordena</a:t>
            </a:r>
            <a:r>
              <a:rPr lang="en-US" sz="1800" dirty="0">
                <a:solidFill>
                  <a:srgbClr val="111827"/>
                </a:solidFill>
              </a:rPr>
              <a:t> y </a:t>
            </a:r>
            <a:r>
              <a:rPr lang="en-US" sz="1800" dirty="0" err="1">
                <a:solidFill>
                  <a:srgbClr val="111827"/>
                </a:solidFill>
              </a:rPr>
              <a:t>recorta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 err="1">
                <a:solidFill>
                  <a:srgbClr val="111827"/>
                </a:solidFill>
              </a:rPr>
              <a:t>resultados</a:t>
            </a:r>
            <a:r>
              <a:rPr lang="en-US" sz="1800" dirty="0">
                <a:solidFill>
                  <a:srgbClr val="111827"/>
                </a:solidFill>
              </a:rPr>
              <a:t>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7CADA64-69BC-B8D6-CAA4-018C2A5555B8}"/>
              </a:ext>
            </a:extLst>
          </p:cNvPr>
          <p:cNvSpPr txBox="1"/>
          <p:nvPr/>
        </p:nvSpPr>
        <p:spPr>
          <a:xfrm>
            <a:off x="10418674" y="2190366"/>
            <a:ext cx="14685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Resume: </a:t>
            </a:r>
            <a:r>
              <a:rPr lang="en-US" sz="1800" dirty="0" err="1">
                <a:solidFill>
                  <a:srgbClr val="111827"/>
                </a:solidFill>
              </a:rPr>
              <a:t>conteos</a:t>
            </a:r>
            <a:r>
              <a:rPr lang="en-US" sz="1800" dirty="0">
                <a:solidFill>
                  <a:srgbClr val="111827"/>
                </a:solidFill>
              </a:rPr>
              <a:t>, </a:t>
            </a:r>
            <a:r>
              <a:rPr lang="en-US" sz="1800" dirty="0" err="1">
                <a:solidFill>
                  <a:srgbClr val="111827"/>
                </a:solidFill>
              </a:rPr>
              <a:t>promedios</a:t>
            </a:r>
            <a:r>
              <a:rPr lang="en-US" sz="1800" dirty="0">
                <a:solidFill>
                  <a:srgbClr val="111827"/>
                </a:solidFill>
              </a:rPr>
              <a:t>, </a:t>
            </a:r>
            <a:r>
              <a:rPr lang="en-US" sz="1800" dirty="0" err="1">
                <a:solidFill>
                  <a:srgbClr val="111827"/>
                </a:solidFill>
              </a:rPr>
              <a:t>totales</a:t>
            </a:r>
            <a:r>
              <a:rPr lang="en-US" sz="800" dirty="0">
                <a:solidFill>
                  <a:srgbClr val="111827"/>
                </a:solidFill>
              </a:rPr>
              <a:t>.</a:t>
            </a:r>
            <a:endParaRPr lang="en-US" sz="8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B1D4B8D-741D-9ACE-7FB5-7994F90F10FF}"/>
              </a:ext>
            </a:extLst>
          </p:cNvPr>
          <p:cNvSpPr txBox="1"/>
          <p:nvPr/>
        </p:nvSpPr>
        <p:spPr>
          <a:xfrm>
            <a:off x="-6704" y="2212614"/>
            <a:ext cx="20445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Filtra </a:t>
            </a:r>
            <a:r>
              <a:rPr lang="en-US" sz="1800" dirty="0" err="1">
                <a:solidFill>
                  <a:srgbClr val="111827"/>
                </a:solidFill>
              </a:rPr>
              <a:t>documentos</a:t>
            </a:r>
            <a:r>
              <a:rPr lang="en-US" sz="1800" dirty="0">
                <a:solidFill>
                  <a:srgbClr val="111827"/>
                </a:solidFill>
              </a:rPr>
              <a:t>: “</a:t>
            </a:r>
            <a:r>
              <a:rPr lang="en-US" sz="1800" dirty="0" err="1">
                <a:solidFill>
                  <a:srgbClr val="111827"/>
                </a:solidFill>
              </a:rPr>
              <a:t>quién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 err="1">
                <a:solidFill>
                  <a:srgbClr val="111827"/>
                </a:solidFill>
              </a:rPr>
              <a:t>entra</a:t>
            </a:r>
            <a:r>
              <a:rPr lang="en-US" sz="1800" dirty="0">
                <a:solidFill>
                  <a:srgbClr val="111827"/>
                </a:solidFill>
              </a:rPr>
              <a:t>”.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072BAF9D-10BF-6E6D-2AA4-BB0511CF1267}"/>
              </a:ext>
            </a:extLst>
          </p:cNvPr>
          <p:cNvSpPr/>
          <p:nvPr/>
        </p:nvSpPr>
        <p:spPr>
          <a:xfrm>
            <a:off x="394356" y="3815357"/>
            <a:ext cx="7257176" cy="1797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>
              <a:buSzPct val="100000"/>
            </a:pPr>
            <a:r>
              <a:rPr lang="en-US" sz="2000" b="1" dirty="0">
                <a:solidFill>
                  <a:srgbClr val="111827"/>
                </a:solidFill>
              </a:rPr>
              <a:t>aggregate() </a:t>
            </a:r>
            <a:r>
              <a:rPr lang="en-US" sz="2000" dirty="0">
                <a:solidFill>
                  <a:srgbClr val="111827"/>
                </a:solidFill>
              </a:rPr>
              <a:t>transforma, resume y </a:t>
            </a:r>
            <a:r>
              <a:rPr lang="en-US" sz="2000" dirty="0" err="1">
                <a:solidFill>
                  <a:srgbClr val="111827"/>
                </a:solidFill>
              </a:rPr>
              <a:t>cálcula</a:t>
            </a:r>
            <a:r>
              <a:rPr lang="en-US" sz="2000" dirty="0">
                <a:solidFill>
                  <a:srgbClr val="111827"/>
                </a:solidFill>
              </a:rPr>
              <a:t>.</a:t>
            </a:r>
          </a:p>
          <a:p>
            <a:pPr marL="177800" indent="-177800">
              <a:buSzPct val="100000"/>
              <a:buChar char="•"/>
            </a:pP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111827"/>
                </a:solidFill>
              </a:rPr>
              <a:t>Es la base de </a:t>
            </a:r>
            <a:r>
              <a:rPr lang="en-US" sz="2000" dirty="0" err="1">
                <a:solidFill>
                  <a:srgbClr val="111827"/>
                </a:solidFill>
              </a:rPr>
              <a:t>reportes</a:t>
            </a:r>
            <a:r>
              <a:rPr lang="en-US" sz="2000" dirty="0">
                <a:solidFill>
                  <a:srgbClr val="111827"/>
                </a:solidFill>
              </a:rPr>
              <a:t>, rankings y dashboards.</a:t>
            </a: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111827"/>
                </a:solidFill>
              </a:rPr>
              <a:t>Se </a:t>
            </a:r>
            <a:r>
              <a:rPr lang="en-US" sz="2000" dirty="0" err="1">
                <a:solidFill>
                  <a:srgbClr val="111827"/>
                </a:solidFill>
              </a:rPr>
              <a:t>ejecuta</a:t>
            </a:r>
            <a:r>
              <a:rPr lang="en-US" sz="2000" dirty="0">
                <a:solidFill>
                  <a:srgbClr val="111827"/>
                </a:solidFill>
              </a:rPr>
              <a:t> </a:t>
            </a:r>
            <a:r>
              <a:rPr lang="en-US" sz="2000" dirty="0" err="1">
                <a:solidFill>
                  <a:srgbClr val="111827"/>
                </a:solidFill>
              </a:rPr>
              <a:t>dentro</a:t>
            </a:r>
            <a:r>
              <a:rPr lang="en-US" sz="2000" dirty="0">
                <a:solidFill>
                  <a:srgbClr val="111827"/>
                </a:solidFill>
              </a:rPr>
              <a:t> de MongoDB: </a:t>
            </a:r>
            <a:r>
              <a:rPr lang="en-US" sz="2000" dirty="0" err="1">
                <a:solidFill>
                  <a:srgbClr val="111827"/>
                </a:solidFill>
              </a:rPr>
              <a:t>menos</a:t>
            </a:r>
            <a:r>
              <a:rPr lang="en-US" sz="2000" dirty="0">
                <a:solidFill>
                  <a:srgbClr val="111827"/>
                </a:solidFill>
              </a:rPr>
              <a:t> </a:t>
            </a:r>
            <a:r>
              <a:rPr lang="en-US" sz="2000" dirty="0" err="1">
                <a:solidFill>
                  <a:srgbClr val="111827"/>
                </a:solidFill>
              </a:rPr>
              <a:t>datos</a:t>
            </a:r>
            <a:r>
              <a:rPr lang="en-US" sz="2000" dirty="0">
                <a:solidFill>
                  <a:srgbClr val="111827"/>
                </a:solidFill>
              </a:rPr>
              <a:t> </a:t>
            </a:r>
            <a:r>
              <a:rPr lang="en-US" sz="2000" dirty="0" err="1">
                <a:solidFill>
                  <a:srgbClr val="111827"/>
                </a:solidFill>
              </a:rPr>
              <a:t>viajan</a:t>
            </a:r>
            <a:r>
              <a:rPr lang="en-US" sz="2000" dirty="0">
                <a:solidFill>
                  <a:srgbClr val="111827"/>
                </a:solidFill>
              </a:rPr>
              <a:t> al backend.</a:t>
            </a:r>
            <a:endParaRPr lang="en-US" sz="2000" dirty="0"/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FF2CDB12-1A45-4CA9-9CFE-A41278DF2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1" y="1035211"/>
            <a:ext cx="107594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$match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filtra    →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</a:t>
            </a: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limpia          →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</a:t>
            </a: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ordena         →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</a:t>
            </a: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recorta          →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</a:t>
            </a: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resume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B3C0"/>
          </a:solidFill>
          <a:ln w="12700">
            <a:solidFill>
              <a:srgbClr val="2B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Práctica 1: ficha rápida con $project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46784"/>
            <a:ext cx="11160760" cy="914400"/>
          </a:xfrm>
          <a:prstGeom prst="roundRect">
            <a:avLst>
              <a:gd name="adj" fmla="val 1667"/>
            </a:avLst>
          </a:prstGeom>
          <a:solidFill>
            <a:srgbClr val="101828"/>
          </a:solidFill>
          <a:ln w="12700">
            <a:solidFill>
              <a:srgbClr val="2D3748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" y="950976"/>
            <a:ext cx="1014730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O" dirty="0" err="1">
                <a:solidFill>
                  <a:schemeClr val="bg1"/>
                </a:solidFill>
              </a:rPr>
              <a:t>db.personas.find</a:t>
            </a:r>
            <a:r>
              <a:rPr lang="es-CO" dirty="0">
                <a:solidFill>
                  <a:schemeClr val="bg1"/>
                </a:solidFill>
              </a:rPr>
              <a:t>({}, { _id: 0, </a:t>
            </a:r>
            <a:r>
              <a:rPr lang="es-CO" dirty="0" err="1">
                <a:solidFill>
                  <a:schemeClr val="bg1"/>
                </a:solidFill>
              </a:rPr>
              <a:t>gender</a:t>
            </a:r>
            <a:r>
              <a:rPr lang="es-CO" dirty="0">
                <a:solidFill>
                  <a:schemeClr val="bg1"/>
                </a:solidFill>
              </a:rPr>
              <a:t>: 1, </a:t>
            </a:r>
            <a:r>
              <a:rPr lang="es-CO" dirty="0" err="1">
                <a:solidFill>
                  <a:schemeClr val="bg1"/>
                </a:solidFill>
              </a:rPr>
              <a:t>nat</a:t>
            </a:r>
            <a:r>
              <a:rPr lang="es-CO" dirty="0">
                <a:solidFill>
                  <a:schemeClr val="bg1"/>
                </a:solidFill>
              </a:rPr>
              <a:t>: 1 }).</a:t>
            </a:r>
            <a:r>
              <a:rPr lang="es-CO" dirty="0" err="1">
                <a:solidFill>
                  <a:schemeClr val="bg1"/>
                </a:solidFill>
              </a:rPr>
              <a:t>limit</a:t>
            </a:r>
            <a:r>
              <a:rPr lang="es-CO" dirty="0">
                <a:solidFill>
                  <a:schemeClr val="bg1"/>
                </a:solidFill>
              </a:rPr>
              <a:t>(3)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8A6"/>
                </a:solidFill>
              </a:rPr>
              <a:t>05</a:t>
            </a:r>
            <a:endParaRPr lang="en-US" sz="85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8815CE44-3EE1-3BAB-E74B-0648A29F8569}"/>
              </a:ext>
            </a:extLst>
          </p:cNvPr>
          <p:cNvSpPr/>
          <p:nvPr/>
        </p:nvSpPr>
        <p:spPr>
          <a:xfrm>
            <a:off x="502920" y="3703320"/>
            <a:ext cx="11160760" cy="1386840"/>
          </a:xfrm>
          <a:prstGeom prst="roundRect">
            <a:avLst>
              <a:gd name="adj" fmla="val 1667"/>
            </a:avLst>
          </a:prstGeom>
          <a:solidFill>
            <a:srgbClr val="101828"/>
          </a:solidFill>
          <a:ln w="12700">
            <a:solidFill>
              <a:srgbClr val="2D3748">
                <a:alpha val="90000"/>
              </a:srgbClr>
            </a:solidFill>
            <a:prstDash val="solid"/>
          </a:ln>
        </p:spPr>
        <p:txBody>
          <a:bodyPr/>
          <a:lstStyle/>
          <a:p>
            <a:r>
              <a:rPr lang="es-CO" dirty="0" err="1">
                <a:solidFill>
                  <a:schemeClr val="bg1"/>
                </a:solidFill>
              </a:rPr>
              <a:t>db.personas.aggregate</a:t>
            </a:r>
            <a:r>
              <a:rPr lang="es-CO" dirty="0">
                <a:solidFill>
                  <a:schemeClr val="bg1"/>
                </a:solidFill>
              </a:rPr>
              <a:t>([</a:t>
            </a:r>
          </a:p>
          <a:p>
            <a:r>
              <a:rPr lang="es-CO" dirty="0">
                <a:solidFill>
                  <a:schemeClr val="bg1"/>
                </a:solidFill>
              </a:rPr>
              <a:t>  { $</a:t>
            </a:r>
            <a:r>
              <a:rPr lang="es-CO" dirty="0" err="1">
                <a:solidFill>
                  <a:schemeClr val="bg1"/>
                </a:solidFill>
              </a:rPr>
              <a:t>project</a:t>
            </a:r>
            <a:r>
              <a:rPr lang="es-CO" dirty="0">
                <a:solidFill>
                  <a:schemeClr val="bg1"/>
                </a:solidFill>
              </a:rPr>
              <a:t>: { _id: 0, </a:t>
            </a:r>
            <a:r>
              <a:rPr lang="es-CO" dirty="0" err="1">
                <a:solidFill>
                  <a:schemeClr val="bg1"/>
                </a:solidFill>
              </a:rPr>
              <a:t>gender</a:t>
            </a:r>
            <a:r>
              <a:rPr lang="es-CO" dirty="0">
                <a:solidFill>
                  <a:schemeClr val="bg1"/>
                </a:solidFill>
              </a:rPr>
              <a:t>: 1, </a:t>
            </a:r>
            <a:r>
              <a:rPr lang="es-CO" dirty="0" err="1">
                <a:solidFill>
                  <a:schemeClr val="bg1"/>
                </a:solidFill>
              </a:rPr>
              <a:t>nat</a:t>
            </a:r>
            <a:r>
              <a:rPr lang="es-CO" dirty="0">
                <a:solidFill>
                  <a:schemeClr val="bg1"/>
                </a:solidFill>
              </a:rPr>
              <a:t>: 1 } },</a:t>
            </a:r>
          </a:p>
          <a:p>
            <a:r>
              <a:rPr lang="es-CO" dirty="0">
                <a:solidFill>
                  <a:schemeClr val="bg1"/>
                </a:solidFill>
              </a:rPr>
              <a:t>  { $</a:t>
            </a:r>
            <a:r>
              <a:rPr lang="es-CO" dirty="0" err="1">
                <a:solidFill>
                  <a:schemeClr val="bg1"/>
                </a:solidFill>
              </a:rPr>
              <a:t>limit</a:t>
            </a:r>
            <a:r>
              <a:rPr lang="es-CO" dirty="0">
                <a:solidFill>
                  <a:schemeClr val="bg1"/>
                </a:solidFill>
              </a:rPr>
              <a:t>: 3 }</a:t>
            </a:r>
          </a:p>
          <a:p>
            <a:r>
              <a:rPr lang="es-CO" dirty="0">
                <a:solidFill>
                  <a:schemeClr val="bg1"/>
                </a:solidFill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279480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B3C0"/>
          </a:solidFill>
          <a:ln w="12700">
            <a:solidFill>
              <a:srgbClr val="2B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Práctica 1: ficha rápida con $project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</a:rPr>
              <a:t>Objetivo: mostrar nombre, ciudad, país y edad.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261872"/>
            <a:ext cx="5852160" cy="4389120"/>
          </a:xfrm>
          <a:prstGeom prst="roundRect">
            <a:avLst>
              <a:gd name="adj" fmla="val 1667"/>
            </a:avLst>
          </a:prstGeom>
          <a:solidFill>
            <a:srgbClr val="101828"/>
          </a:solidFill>
          <a:ln w="12700">
            <a:solidFill>
              <a:srgbClr val="2D3748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371600"/>
            <a:ext cx="5559552" cy="416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db.personas.aggregate([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$project: {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_id: 0,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nombre: { $concat: ["$name.first", " ", "$name.last"] },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ciudad: "$location.city",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pais: "$nat",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edad: "$</a:t>
            </a:r>
            <a:r>
              <a:rPr lang="en-US" sz="1230" dirty="0" err="1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dob.age</a:t>
            </a: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“,</a:t>
            </a:r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$limit: 10 }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812280" y="1353312"/>
            <a:ext cx="4480560" cy="914400"/>
          </a:xfrm>
          <a:prstGeom prst="roundRect">
            <a:avLst>
              <a:gd name="adj" fmla="val 10000"/>
            </a:avLst>
          </a:prstGeom>
          <a:solidFill>
            <a:srgbClr val="E6F7FA"/>
          </a:solidFill>
          <a:ln w="12700">
            <a:solidFill>
              <a:srgbClr val="B8C7D3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76872" y="1481328"/>
            <a:ext cx="4151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B1F33"/>
                </a:solidFill>
              </a:rPr>
              <a:t>Idea clave: $project no solo “muestra”; también puede construir nuevos campos, como nombre completo.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812280" y="2743200"/>
            <a:ext cx="4480560" cy="640080"/>
          </a:xfrm>
          <a:prstGeom prst="roundRect">
            <a:avLst>
              <a:gd name="adj" fmla="val 14286"/>
            </a:avLst>
          </a:prstGeom>
          <a:solidFill>
            <a:srgbClr val="FFF7E6"/>
          </a:solidFill>
          <a:ln w="12700">
            <a:solidFill>
              <a:srgbClr val="B8C7D3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76872" y="2871216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B1F33"/>
                </a:solidFill>
              </a:rPr>
              <a:t>Reto: agregue correo y estado a la ficha.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812280" y="370332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101828"/>
          </a:solidFill>
          <a:ln w="12700">
            <a:solidFill>
              <a:srgbClr val="2D3748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58584" y="3813048"/>
            <a:ext cx="41879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1430" dirty="0" err="1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Solución</a:t>
            </a:r>
            <a:r>
              <a:rPr lang="en-US" sz="14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del </a:t>
            </a:r>
            <a:r>
              <a:rPr lang="en-US" sz="1430" dirty="0" err="1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</a:t>
            </a:r>
            <a:r>
              <a:rPr lang="en-US" sz="14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F2F4F7"/>
                </a:solidFill>
                <a:latin typeface="Consolas" pitchFamily="34" charset="0"/>
              </a:rPr>
              <a:t>SU CODIGO AQUI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8A6"/>
                </a:solidFill>
              </a:rPr>
              <a:t>05</a:t>
            </a:r>
            <a:endParaRPr lang="en-US" sz="85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C92374F-B7E2-3B62-0C57-8ED8A30F5E7C}"/>
              </a:ext>
            </a:extLst>
          </p:cNvPr>
          <p:cNvSpPr txBox="1"/>
          <p:nvPr/>
        </p:nvSpPr>
        <p:spPr>
          <a:xfrm>
            <a:off x="1089660" y="5872325"/>
            <a:ext cx="6101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Dentro de $</a:t>
            </a:r>
            <a:r>
              <a:rPr lang="es-ES" dirty="0" err="1"/>
              <a:t>project</a:t>
            </a:r>
            <a:r>
              <a:rPr lang="es-ES" dirty="0"/>
              <a:t> el orden es solo para que se vea bonito.</a:t>
            </a:r>
            <a:br>
              <a:rPr lang="es-ES" dirty="0"/>
            </a:br>
            <a:r>
              <a:rPr lang="es-ES" dirty="0"/>
              <a:t>El orden de las etapas sí importa.</a:t>
            </a:r>
            <a:endParaRPr lang="es-CO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B3C0"/>
          </a:solidFill>
          <a:ln w="12700">
            <a:solidFill>
              <a:srgbClr val="2B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Práctica 2: filtrar con $match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</a:rPr>
              <a:t>Objetivo: personas con edad mayor o igual a 50.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305763"/>
            <a:ext cx="5715000" cy="4251960"/>
          </a:xfrm>
          <a:prstGeom prst="roundRect">
            <a:avLst>
              <a:gd name="adj" fmla="val 1720"/>
            </a:avLst>
          </a:prstGeom>
          <a:solidFill>
            <a:srgbClr val="101828"/>
          </a:solidFill>
          <a:ln w="12700">
            <a:solidFill>
              <a:srgbClr val="2D3748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15491"/>
            <a:ext cx="5422392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db.personas.aggregate([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$match: { "dob.age": { $gte: 50 } } },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$project: {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_id: 0,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nombre: { $concat: ["$name.first", " ", "$name.last"] },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edad: "$dob.age",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nat: 1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$limit: 10 }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6720840" y="1353312"/>
            <a:ext cx="457200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El punto permite entrar a campos anidados: "</a:t>
            </a:r>
            <a:r>
              <a:rPr lang="en-US" sz="1800" dirty="0" err="1">
                <a:solidFill>
                  <a:srgbClr val="111827"/>
                </a:solidFill>
              </a:rPr>
              <a:t>dob.age</a:t>
            </a:r>
            <a:r>
              <a:rPr lang="en-US" sz="1800" dirty="0">
                <a:solidFill>
                  <a:srgbClr val="111827"/>
                </a:solidFill>
              </a:rPr>
              <a:t>".</a:t>
            </a:r>
          </a:p>
          <a:p>
            <a:pPr marL="177800" indent="-177800">
              <a:buSzPct val="100000"/>
              <a:buChar char="•"/>
            </a:pP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$gte significa mayor o </a:t>
            </a:r>
            <a:r>
              <a:rPr lang="en-US" sz="1800" dirty="0" err="1">
                <a:solidFill>
                  <a:srgbClr val="111827"/>
                </a:solidFill>
              </a:rPr>
              <a:t>igual</a:t>
            </a:r>
            <a:r>
              <a:rPr lang="en-US" sz="1800" dirty="0">
                <a:solidFill>
                  <a:srgbClr val="111827"/>
                </a:solidFill>
              </a:rPr>
              <a:t>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Se filtra primero y luego se muestra limpio.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720840" y="329184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FFF7E6"/>
          </a:solidFill>
          <a:ln w="12700">
            <a:solidFill>
              <a:srgbClr val="B8C7D3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85432" y="3419856"/>
            <a:ext cx="4242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B1F33"/>
                </a:solidFill>
              </a:rPr>
              <a:t>Reto: personas entre 20 y 30 años.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720840" y="416052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101828"/>
          </a:solidFill>
          <a:ln w="12700">
            <a:solidFill>
              <a:srgbClr val="2D3748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67144" y="4270248"/>
            <a:ext cx="4279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2F4F7"/>
                </a:solidFill>
                <a:latin typeface="Consolas" pitchFamily="34" charset="0"/>
              </a:rPr>
              <a:t>SU CODIGO AQUI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8A6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B3C0"/>
          </a:solidFill>
          <a:ln w="12700">
            <a:solidFill>
              <a:srgbClr val="2B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Práctica 3: top con $sort + $limit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</a:rPr>
              <a:t>Objetivo: top 5 personas más viejas.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305763"/>
            <a:ext cx="5760720" cy="4160520"/>
          </a:xfrm>
          <a:prstGeom prst="roundRect">
            <a:avLst>
              <a:gd name="adj" fmla="val 1758"/>
            </a:avLst>
          </a:prstGeom>
          <a:solidFill>
            <a:srgbClr val="101828"/>
          </a:solidFill>
          <a:ln w="12700">
            <a:solidFill>
              <a:srgbClr val="2D3748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15491"/>
            <a:ext cx="5468112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db.personas.aggregate([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$project: {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_id: 0,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nombre: { $concat: ["$name.first", " ", "$name.last"] },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edad: "$dob.age",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nat: 1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$sort: { edad: -1 } },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$limit: 5 }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766560" y="1303020"/>
            <a:ext cx="4526280" cy="960120"/>
          </a:xfrm>
          <a:prstGeom prst="roundRect">
            <a:avLst>
              <a:gd name="adj" fmla="val 9524"/>
            </a:avLst>
          </a:prstGeom>
          <a:solidFill>
            <a:srgbClr val="EAF2FF"/>
          </a:solidFill>
          <a:ln w="12700">
            <a:solidFill>
              <a:srgbClr val="B8C7D3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31152" y="1431036"/>
            <a:ext cx="41970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B1F33"/>
                </a:solidFill>
              </a:rPr>
              <a:t>$sort: { edad: -1 } ordena de mayor a menor. $sort: { edad: 1 } ordena de menor a mayor.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766560" y="2651760"/>
            <a:ext cx="4526280" cy="594360"/>
          </a:xfrm>
          <a:prstGeom prst="roundRect">
            <a:avLst>
              <a:gd name="adj" fmla="val 15385"/>
            </a:avLst>
          </a:prstGeom>
          <a:solidFill>
            <a:srgbClr val="FFF7E6"/>
          </a:solidFill>
          <a:ln w="12700">
            <a:solidFill>
              <a:srgbClr val="B8C7D3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31152" y="2779776"/>
            <a:ext cx="4197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B1F33"/>
                </a:solidFill>
              </a:rPr>
              <a:t>Reto: top 5 personas más jóvenes.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766560" y="356616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101828"/>
          </a:solidFill>
          <a:ln w="12700">
            <a:solidFill>
              <a:srgbClr val="2D3748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12864" y="3675888"/>
            <a:ext cx="42336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chemeClr val="bg1"/>
                </a:solidFill>
              </a:rPr>
              <a:t>SU CODIGO AQUI</a:t>
            </a:r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8A6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B3C0"/>
          </a:solidFill>
          <a:ln w="12700">
            <a:solidFill>
              <a:srgbClr val="2B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Práctica 4: conteos con $group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</a:rPr>
              <a:t>Objetivo: cuántas personas hay por nacionalidad.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101828"/>
          </a:solidFill>
          <a:ln w="12700">
            <a:solidFill>
              <a:srgbClr val="2D3748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08176"/>
            <a:ext cx="505663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db.personas.aggregate([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$group: { _id: "$nat", total: { $sum: 1 } } },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$sort: { total: -1 } 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303020"/>
            <a:ext cx="484632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_id en $group es el criterio de </a:t>
            </a:r>
            <a:r>
              <a:rPr lang="en-US" sz="1900" dirty="0" err="1">
                <a:solidFill>
                  <a:srgbClr val="111827"/>
                </a:solidFill>
              </a:rPr>
              <a:t>agrupación</a:t>
            </a:r>
            <a:r>
              <a:rPr lang="en-US" sz="1900" dirty="0">
                <a:solidFill>
                  <a:srgbClr val="111827"/>
                </a:solidFill>
              </a:rPr>
              <a:t>.</a:t>
            </a:r>
          </a:p>
          <a:p>
            <a:pPr marL="177800" indent="-177800">
              <a:buSzPct val="100000"/>
              <a:buChar char="•"/>
            </a:pP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$sum: 1 cuenta </a:t>
            </a:r>
            <a:r>
              <a:rPr lang="en-US" sz="1900" dirty="0" err="1">
                <a:solidFill>
                  <a:srgbClr val="111827"/>
                </a:solidFill>
              </a:rPr>
              <a:t>documentos</a:t>
            </a:r>
            <a:r>
              <a:rPr lang="en-US" sz="1900" dirty="0">
                <a:solidFill>
                  <a:srgbClr val="111827"/>
                </a:solidFill>
              </a:rPr>
              <a:t>.</a:t>
            </a:r>
          </a:p>
          <a:p>
            <a:pPr marL="177800" indent="-177800">
              <a:buSzPct val="100000"/>
              <a:buChar char="•"/>
            </a:pP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$sort ordena el ranking.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58368" y="3063240"/>
            <a:ext cx="5349240" cy="640080"/>
          </a:xfrm>
          <a:prstGeom prst="roundRect">
            <a:avLst>
              <a:gd name="adj" fmla="val 14286"/>
            </a:avLst>
          </a:prstGeom>
          <a:solidFill>
            <a:srgbClr val="FFF7E6"/>
          </a:solidFill>
          <a:ln w="12700">
            <a:solidFill>
              <a:srgbClr val="B8C7D3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91256"/>
            <a:ext cx="5020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B1F33"/>
                </a:solidFill>
              </a:rPr>
              <a:t>Reto: mostrar solo el Top 5 de nacionalidades.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0" y="2971800"/>
            <a:ext cx="4846320" cy="1645920"/>
          </a:xfrm>
          <a:prstGeom prst="roundRect">
            <a:avLst>
              <a:gd name="adj" fmla="val 4444"/>
            </a:avLst>
          </a:prstGeom>
          <a:solidFill>
            <a:srgbClr val="101828"/>
          </a:solidFill>
          <a:ln w="12700">
            <a:solidFill>
              <a:srgbClr val="2D3748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7104" y="3081528"/>
            <a:ext cx="455371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db.personas.aggregate([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$group: { _id: "$nat", total: { $sum: 1 } } },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$sort: { total: -1 } },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$limit: 5 }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8A6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B3C0"/>
          </a:solidFill>
          <a:ln w="12700">
            <a:solidFill>
              <a:srgbClr val="2B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Práctica 5: promedios con $avg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</a:rPr>
              <a:t>Objetivo: promedio de edad por género.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303934"/>
            <a:ext cx="5760720" cy="3429000"/>
          </a:xfrm>
          <a:prstGeom prst="roundRect">
            <a:avLst>
              <a:gd name="adj" fmla="val 2133"/>
            </a:avLst>
          </a:prstGeom>
          <a:solidFill>
            <a:srgbClr val="101828"/>
          </a:solidFill>
          <a:ln w="12700">
            <a:solidFill>
              <a:srgbClr val="2D3748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13662"/>
            <a:ext cx="5468112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db.personas.aggregate([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$group: {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_id: "$gender",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promedioEdad: { $avg: "$dob.age" },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total: { $sum: 1 }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$sort: { total: -1 } }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6720840" y="1298448"/>
            <a:ext cx="4572000" cy="960120"/>
          </a:xfrm>
          <a:prstGeom prst="roundRect">
            <a:avLst>
              <a:gd name="adj" fmla="val 9524"/>
            </a:avLst>
          </a:prstGeom>
          <a:solidFill>
            <a:srgbClr val="E6F7FA"/>
          </a:solidFill>
          <a:ln w="12700">
            <a:solidFill>
              <a:srgbClr val="B8C7D3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85432" y="1426464"/>
            <a:ext cx="42428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B1F33"/>
                </a:solidFill>
              </a:rPr>
              <a:t>$avg calcula promedios. También podemos incluir total para saber cuántas personas sostienen ese promedio.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720840" y="260604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FFF7E6"/>
          </a:solidFill>
          <a:ln w="12700">
            <a:solidFill>
              <a:srgbClr val="B8C7D3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85432" y="2734056"/>
            <a:ext cx="4242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B1F33"/>
                </a:solidFill>
              </a:rPr>
              <a:t>Reto: promedio de edad por nacionalidad.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720840" y="3493008"/>
            <a:ext cx="4572000" cy="1371600"/>
          </a:xfrm>
          <a:prstGeom prst="roundRect">
            <a:avLst>
              <a:gd name="adj" fmla="val 5333"/>
            </a:avLst>
          </a:prstGeom>
          <a:solidFill>
            <a:srgbClr val="101828"/>
          </a:solidFill>
          <a:ln w="12700">
            <a:solidFill>
              <a:srgbClr val="2D3748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67144" y="3602736"/>
            <a:ext cx="427939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 CODIGO AQUI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8A6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B3C0"/>
          </a:solidFill>
          <a:ln w="12700">
            <a:solidFill>
              <a:srgbClr val="2B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Práctica 6: crear campos con $addFields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</a:rPr>
              <a:t>Objetivo: fullName y grupo de edad.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170432"/>
            <a:ext cx="6263640" cy="4800600"/>
          </a:xfrm>
          <a:prstGeom prst="roundRect">
            <a:avLst>
              <a:gd name="adj" fmla="val 1524"/>
            </a:avLst>
          </a:prstGeom>
          <a:solidFill>
            <a:srgbClr val="101828"/>
          </a:solidFill>
          <a:ln w="12700">
            <a:solidFill>
              <a:srgbClr val="2D3748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80160"/>
            <a:ext cx="5971032" cy="4581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db.personas.aggregate([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$addFields: {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fullName: { $concat: ["$name.first", " ", "$name.last"] },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grupoEdad: {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$cond: [ { $gte: ["$dob.age", 50] }, "50+", "menor50" ]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$project: { _id: 0, fullName: 1, edad: "$dob.age", grupoEdad: 1, nat: 1 } },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$limit: 10 }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7086600" y="1303020"/>
            <a:ext cx="4343400" cy="91440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12700">
            <a:solidFill>
              <a:srgbClr val="B8C7D3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51192" y="1431036"/>
            <a:ext cx="4014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B1F33"/>
                </a:solidFill>
              </a:rPr>
              <a:t>$addFields agrega campos temporales al resultado del pipeline. No modifica la colección.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086600" y="2606040"/>
            <a:ext cx="4343400" cy="777240"/>
          </a:xfrm>
          <a:prstGeom prst="roundRect">
            <a:avLst>
              <a:gd name="adj" fmla="val 11765"/>
            </a:avLst>
          </a:prstGeom>
          <a:solidFill>
            <a:srgbClr val="FFF7E6"/>
          </a:solidFill>
          <a:ln w="12700">
            <a:solidFill>
              <a:srgbClr val="B8C7D3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51192" y="2734056"/>
            <a:ext cx="40142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B1F33"/>
                </a:solidFill>
              </a:rPr>
              <a:t>Reto: cree 3 grupos: 0–29, 30–59 y 60+ con $switch.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086600" y="3657600"/>
            <a:ext cx="4343400" cy="1920240"/>
          </a:xfrm>
          <a:prstGeom prst="roundRect">
            <a:avLst>
              <a:gd name="adj" fmla="val 3810"/>
            </a:avLst>
          </a:prstGeom>
          <a:solidFill>
            <a:srgbClr val="101828"/>
          </a:solidFill>
          <a:ln w="12700">
            <a:solidFill>
              <a:srgbClr val="2D3748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32904" y="3767328"/>
            <a:ext cx="405079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$switch: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branches: [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case: { $lte: ["$dob.age", 29] }, then: "0-29" },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case: { $lte: ["$dob.age", 59] }, then: "30-59"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default: "60+"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8A6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B3C0"/>
          </a:solidFill>
          <a:ln w="12700">
            <a:solidFill>
              <a:srgbClr val="2B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Esto ya es un mini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</a:rPr>
              <a:t>Con $match + $group ya aparecen métricas para decidir.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303020"/>
            <a:ext cx="493776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</a:rPr>
              <a:t>Distribución por </a:t>
            </a:r>
            <a:r>
              <a:rPr lang="en-US" sz="2200" dirty="0" err="1">
                <a:solidFill>
                  <a:srgbClr val="111827"/>
                </a:solidFill>
              </a:rPr>
              <a:t>nacionalidad</a:t>
            </a:r>
            <a:r>
              <a:rPr lang="en-US" sz="2200" dirty="0">
                <a:solidFill>
                  <a:srgbClr val="111827"/>
                </a:solidFill>
              </a:rPr>
              <a:t>.</a:t>
            </a:r>
            <a:endParaRPr lang="en-US" sz="2200" dirty="0"/>
          </a:p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</a:rPr>
              <a:t>Promedio de edad por </a:t>
            </a:r>
            <a:r>
              <a:rPr lang="en-US" sz="2200" dirty="0" err="1">
                <a:solidFill>
                  <a:srgbClr val="111827"/>
                </a:solidFill>
              </a:rPr>
              <a:t>género</a:t>
            </a:r>
            <a:r>
              <a:rPr lang="en-US" sz="2200" dirty="0">
                <a:solidFill>
                  <a:srgbClr val="111827"/>
                </a:solidFill>
              </a:rPr>
              <a:t>.</a:t>
            </a:r>
            <a:endParaRPr lang="en-US" sz="2200" dirty="0"/>
          </a:p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</a:rPr>
              <a:t>Top ciudades o </a:t>
            </a:r>
            <a:r>
              <a:rPr lang="en-US" sz="2200" dirty="0" err="1">
                <a:solidFill>
                  <a:srgbClr val="111827"/>
                </a:solidFill>
              </a:rPr>
              <a:t>estados</a:t>
            </a:r>
            <a:r>
              <a:rPr lang="en-US" sz="2200" dirty="0">
                <a:solidFill>
                  <a:srgbClr val="111827"/>
                </a:solidFill>
              </a:rPr>
              <a:t>.</a:t>
            </a:r>
            <a:endParaRPr lang="en-US" sz="2200" dirty="0"/>
          </a:p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</a:rPr>
              <a:t>Segmentos de edad para análisis poblacional.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0" y="1298448"/>
            <a:ext cx="4937760" cy="3886200"/>
          </a:xfrm>
          <a:prstGeom prst="roundRect">
            <a:avLst>
              <a:gd name="adj" fmla="val 1882"/>
            </a:avLst>
          </a:prstGeom>
          <a:solidFill>
            <a:srgbClr val="101828"/>
          </a:solidFill>
          <a:ln w="12700">
            <a:solidFill>
              <a:srgbClr val="2D3748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47104" y="1408176"/>
            <a:ext cx="4645152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Ejemplo: personas por género y nacionalidad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(agrupación compuesta)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db.personas.aggregate([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$group: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_id: { genero: "$gender", pais: "$nat" },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total: { $sum: 1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$sort: { total: -1 } },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$limit: 10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2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3977640"/>
            <a:ext cx="4937760" cy="868680"/>
          </a:xfrm>
          <a:prstGeom prst="roundRect">
            <a:avLst>
              <a:gd name="adj" fmla="val 10526"/>
            </a:avLst>
          </a:prstGeom>
          <a:solidFill>
            <a:srgbClr val="E6F7FA"/>
          </a:solidFill>
          <a:ln w="12700">
            <a:solidFill>
              <a:srgbClr val="B8C7D3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4105656"/>
            <a:ext cx="46085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B1F33"/>
                </a:solidFill>
              </a:rPr>
              <a:t>“Un backend no solo guarda datos. También produce respuestas para el negocio.”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8A6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B3C0"/>
          </a:solidFill>
          <a:ln w="12700">
            <a:solidFill>
              <a:srgbClr val="2B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Taller final · 20 minutos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</a:rPr>
              <a:t>Entregar el pipeline y una captura/salida.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303020"/>
            <a:ext cx="1060704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11827"/>
                </a:solidFill>
              </a:rPr>
              <a:t>T1. Top 10 ciudades con más personas.
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11827"/>
                </a:solidFill>
              </a:rPr>
              <a:t>T2. Personas por estado solo para nat = "ES".
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11827"/>
                </a:solidFill>
              </a:rPr>
              <a:t>T3. Promedio de edad por nacionalidad, solo grupos con 5+ personas.
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11827"/>
                </a:solidFill>
              </a:rPr>
              <a:t>T4. Ficha limpia de las 5 personas más jóvenes.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77240" y="3840480"/>
            <a:ext cx="10442448" cy="685800"/>
          </a:xfrm>
          <a:prstGeom prst="roundRect">
            <a:avLst>
              <a:gd name="adj" fmla="val 13333"/>
            </a:avLst>
          </a:prstGeom>
          <a:solidFill>
            <a:srgbClr val="FFF7E6"/>
          </a:solidFill>
          <a:ln w="12700">
            <a:solidFill>
              <a:srgbClr val="B8C7D3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3968496"/>
            <a:ext cx="101132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B1F33"/>
                </a:solidFill>
              </a:rPr>
              <a:t>Regla: usar $match, $project, $sort, $limit y $group. 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8A6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1326</Words>
  <Application>Microsoft Office PowerPoint</Application>
  <PresentationFormat>Panorámica</PresentationFormat>
  <Paragraphs>187</Paragraphs>
  <Slides>34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Calibri Light</vt:lpstr>
      <vt:lpstr>Consolas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MAURICIO BEDOYA</dc:creator>
  <cp:lastModifiedBy>Carolina Herrera</cp:lastModifiedBy>
  <cp:revision>27</cp:revision>
  <dcterms:created xsi:type="dcterms:W3CDTF">2026-05-04T03:29:38Z</dcterms:created>
  <dcterms:modified xsi:type="dcterms:W3CDTF">2026-05-13T12:16:57Z</dcterms:modified>
</cp:coreProperties>
</file>