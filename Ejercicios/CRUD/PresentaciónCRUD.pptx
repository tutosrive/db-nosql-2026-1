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5" r:id="rId2"/>
    <p:sldId id="256" r:id="rId3"/>
    <p:sldId id="266" r:id="rId4"/>
    <p:sldId id="257" r:id="rId5"/>
    <p:sldId id="258" r:id="rId6"/>
    <p:sldId id="259" r:id="rId7"/>
    <p:sldId id="260" r:id="rId8"/>
    <p:sldId id="267" r:id="rId9"/>
    <p:sldId id="269" r:id="rId10"/>
    <p:sldId id="261" r:id="rId11"/>
    <p:sldId id="271" r:id="rId12"/>
    <p:sldId id="270" r:id="rId13"/>
    <p:sldId id="272" r:id="rId14"/>
    <p:sldId id="273" r:id="rId15"/>
    <p:sldId id="274" r:id="rId16"/>
    <p:sldId id="275" r:id="rId17"/>
    <p:sldId id="276" r:id="rId18"/>
    <p:sldId id="277" r:id="rId19"/>
    <p:sldId id="264" r:id="rId20"/>
    <p:sldId id="278" r:id="rId21"/>
    <p:sldId id="279" r:id="rId22"/>
    <p:sldId id="280" r:id="rId23"/>
    <p:sldId id="281" r:id="rId24"/>
    <p:sldId id="282" r:id="rId25"/>
    <p:sldId id="283" r:id="rId26"/>
    <p:sldId id="284" r:id="rId27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URICIO BEDOYA" initials="MB" lastIdx="2" clrIdx="0">
    <p:extLst>
      <p:ext uri="{19B8F6BF-5375-455C-9EA6-DF929625EA0E}">
        <p15:presenceInfo xmlns:p15="http://schemas.microsoft.com/office/powerpoint/2012/main" userId="c390cb56b1af1d01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9" d="100"/>
          <a:sy n="69" d="100"/>
        </p:scale>
        <p:origin x="4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669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7A18E9C-7857-4234-9EA2-FB8553A538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5EF7E1B-AEB7-424F-A124-B23F4D9E78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0AEE3D8-C1C7-4312-BDD3-6252D47F3F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47130-4344-4679-B1D0-4EC11B003061}" type="datetimeFigureOut">
              <a:rPr lang="es-CO" smtClean="0"/>
              <a:t>30/04/2026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116AD0B-D819-4860-91C1-3FFC309604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3F21749-389D-4BF8-8E96-C38C795068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24933F-D034-4986-8BFD-E8BDF6F9DBA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304184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592AC0-2520-4AD2-8DDB-645BE38161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6DEF787-49AD-4C20-9E7B-FBEC6E6D2A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443E57D-FA48-4274-9B9F-303247E50E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47130-4344-4679-B1D0-4EC11B003061}" type="datetimeFigureOut">
              <a:rPr lang="es-CO" smtClean="0"/>
              <a:t>30/04/2026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8900C4A-601C-43C0-9272-0A1CACE52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FFC0325-BFEA-4BCA-8D24-0186B0C2DA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24933F-D034-4986-8BFD-E8BDF6F9DBA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7186971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BA70C14-62CF-4591-9D73-65CCDB85C5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BA704DD-F839-4CB1-98F2-2FC5569059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4B656E9-AA1E-4AD5-801B-3F75D6B50D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47130-4344-4679-B1D0-4EC11B003061}" type="datetimeFigureOut">
              <a:rPr lang="es-CO" smtClean="0"/>
              <a:t>30/04/2026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5792FDE-9026-4C57-9819-A5210CF72C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0C2CDF7-3C3E-4332-908B-6D5E76067C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24933F-D034-4986-8BFD-E8BDF6F9DBA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239743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91B2553-868F-44AE-AF0D-1D01969A21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77491DE-BA1C-46AE-8933-7A7F04D0B9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7E46EDE-404E-428B-B9E5-1405BFA336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F029BAD-31EC-4154-B353-8244623828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47130-4344-4679-B1D0-4EC11B003061}" type="datetimeFigureOut">
              <a:rPr lang="es-CO" smtClean="0"/>
              <a:t>30/04/2026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784AD67-ABD6-4FA0-8FBD-2E6A5E5738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883B257-5FEC-4AA9-9202-71A6DE29CF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24933F-D034-4986-8BFD-E8BDF6F9DBA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336779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4EFB341-027E-428B-9AD9-0112AC3783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3138EF0-7990-4C91-9B0A-A9E86E404F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D899335-7976-4E69-B36E-AB9D1855A2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2AF8E9E-700C-49EB-9176-30C2642A579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36CCC486-7AD3-4547-A075-0587DFCC70E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02BF1C9B-DE91-410D-A650-3962C442CB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47130-4344-4679-B1D0-4EC11B003061}" type="datetimeFigureOut">
              <a:rPr lang="es-CO" smtClean="0"/>
              <a:t>30/04/2026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CE8B6679-60EB-4016-B06E-8B2D91F3CC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9D75D1A8-FFB6-42AC-9771-3E0E2EC81A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24933F-D034-4986-8BFD-E8BDF6F9DBA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4786896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65855B-477E-4BF7-BDF6-815E0E05DA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F5B6D2A3-5406-44C6-A279-0C65F90A0C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47130-4344-4679-B1D0-4EC11B003061}" type="datetimeFigureOut">
              <a:rPr lang="es-CO" smtClean="0"/>
              <a:t>30/04/2026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2A5128DC-22B0-4A32-AFB8-6A7490D839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7AEAB7DD-2197-48C3-B3A2-116A2408D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24933F-D034-4986-8BFD-E8BDF6F9DBA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700099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7477AE8-763D-4BC6-AE51-AE433B5421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47130-4344-4679-B1D0-4EC11B003061}" type="datetimeFigureOut">
              <a:rPr lang="es-CO" smtClean="0"/>
              <a:t>30/04/2026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06A409AB-C5A3-4929-A728-A731F6D22A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BE9F74B-46AA-405B-A307-49E7E2977D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24933F-D034-4986-8BFD-E8BDF6F9DBA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8390342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B4D61CF-60AF-435D-8A1E-0CA6710792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3A020A4-5A60-4815-9D9E-CAC89837D6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76F50AE-A196-40FC-A976-20C2BF0110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AB254BE-22CE-4CB5-9A25-D8C77AA7E7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47130-4344-4679-B1D0-4EC11B003061}" type="datetimeFigureOut">
              <a:rPr lang="es-CO" smtClean="0"/>
              <a:t>30/04/2026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CDEC842-C170-4777-BC82-B4B1F2B78E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A350EC3-6E8B-44D3-94EA-8932FCEF6C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24933F-D034-4986-8BFD-E8BDF6F9DBA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123033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9E1AF3-B61A-41AD-A7F1-F31602B78E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B30855A6-BDAF-40B8-8A73-AF8A36958CA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1506FDD-CEA0-4252-BE42-CEE6CDF91B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A2B6C2C-AD59-4E7F-AD9F-071FA58D8B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47130-4344-4679-B1D0-4EC11B003061}" type="datetimeFigureOut">
              <a:rPr lang="es-CO" smtClean="0"/>
              <a:t>30/04/2026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F15F877-ABC1-46F7-ADBF-26C75A93DE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5021B0A-0D41-4280-84B0-B01D85B11F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24933F-D034-4986-8BFD-E8BDF6F9DBA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2210481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DDDB90-7833-4045-B848-5DB31E5B0E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30C6671-F342-4ED1-88EB-E39DDB7F77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906C20D-2BED-456D-80DD-A800087790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47130-4344-4679-B1D0-4EC11B003061}" type="datetimeFigureOut">
              <a:rPr lang="es-CO" smtClean="0"/>
              <a:t>30/04/2026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BF75671-725C-40C3-B14A-B45D748C88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78438FD-8B9A-4D32-A6D5-14A550EF83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24933F-D034-4986-8BFD-E8BDF6F9DBA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342235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A9182E19-0105-4068-8F50-6B64F501176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E704635C-07C3-4BFD-B9A5-EB0A8E2B3C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E8B7BBD-CF99-4C39-BEBB-D61E010B53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47130-4344-4679-B1D0-4EC11B003061}" type="datetimeFigureOut">
              <a:rPr lang="es-CO" smtClean="0"/>
              <a:t>30/04/2026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2A2AE05-2CF3-4026-A01B-C395DC8935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4607BA6-1AFD-49F6-B6C1-7CE7093E80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24933F-D034-4986-8BFD-E8BDF6F9DBA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9853864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FE9379F9-C180-402A-B354-E57D3FBB43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1A0D739-537E-46FE-9355-E6EDDAAD4C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246C070-213B-44DC-9EA3-37F8D1BC8D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547130-4344-4679-B1D0-4EC11B003061}" type="datetimeFigureOut">
              <a:rPr lang="es-CO" smtClean="0"/>
              <a:t>30/04/2026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7681A9E-EEF7-49C5-9F51-3FE664F30A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E99048A-ED7F-45E3-8056-0F9AA6532E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24933F-D034-4986-8BFD-E8BDF6F9DBA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7706061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89819C-8F5D-4BB2-868F-BDF9DD41E3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0799" y="2205304"/>
            <a:ext cx="7862454" cy="1325563"/>
          </a:xfrm>
        </p:spPr>
        <p:txBody>
          <a:bodyPr/>
          <a:lstStyle/>
          <a:p>
            <a:r>
              <a:rPr lang="es-CO" b="1" dirty="0"/>
              <a:t>Bases de datos No relacionales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87A71AD-F161-4F65-A7DF-861EBB6FD3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85603" y="4400752"/>
            <a:ext cx="5420794" cy="66819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CO" dirty="0"/>
              <a:t>CRUD en MongoDB Shell (</a:t>
            </a:r>
            <a:r>
              <a:rPr lang="es-CO" dirty="0" err="1"/>
              <a:t>mongosh</a:t>
            </a:r>
            <a:r>
              <a:rPr lang="es-CO" dirty="0"/>
              <a:t>)</a:t>
            </a: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B9975890-EB1D-4664-8AE8-8122EB78B496}"/>
              </a:ext>
            </a:extLst>
          </p:cNvPr>
          <p:cNvSpPr txBox="1">
            <a:spLocks/>
          </p:cNvSpPr>
          <p:nvPr/>
        </p:nvSpPr>
        <p:spPr>
          <a:xfrm>
            <a:off x="3131125" y="1103318"/>
            <a:ext cx="6227619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 sz="5400" b="1" dirty="0">
                <a:latin typeface="+mn-lt"/>
              </a:rPr>
              <a:t>Universidad de Caldas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F529FD4E-380E-4579-916C-0022F09F955F}"/>
              </a:ext>
            </a:extLst>
          </p:cNvPr>
          <p:cNvSpPr/>
          <p:nvPr/>
        </p:nvSpPr>
        <p:spPr>
          <a:xfrm>
            <a:off x="295835" y="231391"/>
            <a:ext cx="11604812" cy="6395218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755986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56108AC8-96BB-4790-8D26-C6FD492D6C76}"/>
              </a:ext>
            </a:extLst>
          </p:cNvPr>
          <p:cNvSpPr/>
          <p:nvPr/>
        </p:nvSpPr>
        <p:spPr>
          <a:xfrm>
            <a:off x="295835" y="231391"/>
            <a:ext cx="11604812" cy="6395218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E9CC1B4E-A4B7-453D-9287-F36C94547F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2944" y="2028428"/>
            <a:ext cx="10529456" cy="44319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Agenda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CO" altLang="es-CO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s-CO" altLang="es-CO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Insertar datos correctamente (</a:t>
            </a:r>
            <a:r>
              <a:rPr kumimoji="0" lang="es-CO" altLang="es-CO" sz="2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insertOne</a:t>
            </a:r>
            <a:r>
              <a:rPr kumimoji="0" lang="es-CO" altLang="es-CO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s-CO" altLang="es-CO" sz="2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insertMany</a:t>
            </a:r>
            <a:r>
              <a:rPr kumimoji="0" lang="es-CO" altLang="es-CO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s-CO" altLang="es-CO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Consultar con filtros y proyección (</a:t>
            </a:r>
            <a:r>
              <a:rPr kumimoji="0" lang="es-CO" altLang="es-CO" sz="2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find</a:t>
            </a:r>
            <a:r>
              <a:rPr kumimoji="0" lang="es-CO" altLang="es-CO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proyección, </a:t>
            </a:r>
            <a:r>
              <a:rPr kumimoji="0" lang="es-CO" altLang="es-CO" sz="2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sort</a:t>
            </a:r>
            <a:r>
              <a:rPr kumimoji="0" lang="es-CO" altLang="es-CO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/</a:t>
            </a:r>
            <a:r>
              <a:rPr kumimoji="0" lang="es-CO" altLang="es-CO" sz="2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limit</a:t>
            </a:r>
            <a:r>
              <a:rPr kumimoji="0" lang="es-CO" altLang="es-CO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s-CO" altLang="es-CO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Actualizar con criterio ($set, $</a:t>
            </a:r>
            <a:r>
              <a:rPr kumimoji="0" lang="es-CO" altLang="es-CO" sz="2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inc</a:t>
            </a:r>
            <a:r>
              <a:rPr kumimoji="0" lang="es-CO" altLang="es-CO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$</a:t>
            </a:r>
            <a:r>
              <a:rPr kumimoji="0" lang="es-CO" altLang="es-CO" sz="2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push</a:t>
            </a:r>
            <a:r>
              <a:rPr kumimoji="0" lang="es-CO" altLang="es-CO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$</a:t>
            </a:r>
            <a:r>
              <a:rPr kumimoji="0" lang="es-CO" altLang="es-CO" sz="2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addToSet</a:t>
            </a:r>
            <a:r>
              <a:rPr kumimoji="0" lang="es-CO" altLang="es-CO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s-CO" altLang="es-CO" sz="2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updateOne</a:t>
            </a:r>
            <a:r>
              <a:rPr kumimoji="0" lang="es-CO" altLang="es-CO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/</a:t>
            </a:r>
            <a:r>
              <a:rPr kumimoji="0" lang="es-CO" altLang="es-CO" sz="2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updateMany</a:t>
            </a:r>
            <a:r>
              <a:rPr kumimoji="0" lang="es-CO" altLang="es-CO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s-CO" altLang="es-CO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Borrar con cuidado (</a:t>
            </a:r>
            <a:r>
              <a:rPr kumimoji="0" lang="es-CO" altLang="es-CO" sz="2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deleteOne</a:t>
            </a:r>
            <a:r>
              <a:rPr kumimoji="0" lang="es-CO" altLang="es-CO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/</a:t>
            </a:r>
            <a:r>
              <a:rPr kumimoji="0" lang="es-CO" altLang="es-CO" sz="2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deleteMany</a:t>
            </a:r>
            <a:r>
              <a:rPr kumimoji="0" lang="es-CO" altLang="es-CO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 y entender </a:t>
            </a:r>
            <a:r>
              <a:rPr kumimoji="0" lang="es-CO" altLang="es-CO" sz="2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soft</a:t>
            </a:r>
            <a:r>
              <a:rPr kumimoji="0" lang="es-CO" altLang="es-CO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2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delete</a:t>
            </a:r>
            <a:r>
              <a:rPr kumimoji="0" lang="es-CO" altLang="es-CO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s-CO" altLang="es-CO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Entender qué cambia en CRUD cuando el diseño es referenciado, embebido o híbrido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CO" altLang="es-CO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25631C02-8A65-4E53-B52B-4E99830A581E}"/>
              </a:ext>
            </a:extLst>
          </p:cNvPr>
          <p:cNvSpPr txBox="1"/>
          <p:nvPr/>
        </p:nvSpPr>
        <p:spPr>
          <a:xfrm>
            <a:off x="401782" y="458768"/>
            <a:ext cx="11180618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4800" b="1" dirty="0"/>
              <a:t>Insertar, Consultar, Actualizar y Borrar en una base híbrida</a:t>
            </a:r>
            <a:endParaRPr lang="es-CO" sz="4800" b="1" dirty="0"/>
          </a:p>
        </p:txBody>
      </p:sp>
    </p:spTree>
    <p:extLst>
      <p:ext uri="{BB962C8B-B14F-4D97-AF65-F5344CB8AC3E}">
        <p14:creationId xmlns:p14="http://schemas.microsoft.com/office/powerpoint/2010/main" val="30319793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56108AC8-96BB-4790-8D26-C6FD492D6C76}"/>
              </a:ext>
            </a:extLst>
          </p:cNvPr>
          <p:cNvSpPr/>
          <p:nvPr/>
        </p:nvSpPr>
        <p:spPr>
          <a:xfrm>
            <a:off x="295835" y="231391"/>
            <a:ext cx="11604812" cy="6395218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6CB53F8B-8251-4BA6-9076-3BCE299E27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5709" y="1260762"/>
            <a:ext cx="6396124" cy="5114395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B4E46721-188F-46C4-B56D-389A21978AAB}"/>
              </a:ext>
            </a:extLst>
          </p:cNvPr>
          <p:cNvSpPr txBox="1"/>
          <p:nvPr/>
        </p:nvSpPr>
        <p:spPr>
          <a:xfrm>
            <a:off x="291353" y="330578"/>
            <a:ext cx="1129326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400" dirty="0"/>
              <a:t>CRUD es manipular documentos. </a:t>
            </a:r>
          </a:p>
          <a:p>
            <a:r>
              <a:rPr lang="es-ES" sz="2400" dirty="0"/>
              <a:t>En NoSQL es saber </a:t>
            </a:r>
            <a:r>
              <a:rPr lang="es-ES" sz="2400" i="1" dirty="0"/>
              <a:t>qué documento</a:t>
            </a:r>
            <a:r>
              <a:rPr lang="es-ES" sz="2400" dirty="0"/>
              <a:t> cambias y por qué.</a:t>
            </a:r>
            <a:endParaRPr lang="es-CO" sz="2400" dirty="0"/>
          </a:p>
        </p:txBody>
      </p:sp>
      <p:sp>
        <p:nvSpPr>
          <p:cNvPr id="3" name="Abrir llave 2">
            <a:extLst>
              <a:ext uri="{FF2B5EF4-FFF2-40B4-BE49-F238E27FC236}">
                <a16:creationId xmlns:a16="http://schemas.microsoft.com/office/drawing/2014/main" id="{DB20EABB-C423-4009-81B5-D36D2AB12192}"/>
              </a:ext>
            </a:extLst>
          </p:cNvPr>
          <p:cNvSpPr/>
          <p:nvPr/>
        </p:nvSpPr>
        <p:spPr>
          <a:xfrm>
            <a:off x="3075709" y="1620982"/>
            <a:ext cx="346364" cy="4502727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73269EE6-73B5-4FFD-BFE6-F5AB40E779C1}"/>
              </a:ext>
            </a:extLst>
          </p:cNvPr>
          <p:cNvSpPr txBox="1"/>
          <p:nvPr/>
        </p:nvSpPr>
        <p:spPr>
          <a:xfrm>
            <a:off x="858981" y="3549179"/>
            <a:ext cx="20389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3600" b="1" dirty="0" err="1"/>
              <a:t>Backend</a:t>
            </a:r>
            <a:endParaRPr lang="es-CO" sz="3600" b="1" dirty="0"/>
          </a:p>
        </p:txBody>
      </p:sp>
    </p:spTree>
    <p:extLst>
      <p:ext uri="{BB962C8B-B14F-4D97-AF65-F5344CB8AC3E}">
        <p14:creationId xmlns:p14="http://schemas.microsoft.com/office/powerpoint/2010/main" val="23159368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9274782E-C37F-4F51-BB6C-4A817A240C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82" y="253363"/>
            <a:ext cx="12031730" cy="6369110"/>
          </a:xfrm>
          <a:prstGeom prst="rect">
            <a:avLst/>
          </a:prstGeom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143269F1-AE4E-48BF-BD3C-079F0BB4407D}"/>
              </a:ext>
            </a:extLst>
          </p:cNvPr>
          <p:cNvSpPr/>
          <p:nvPr/>
        </p:nvSpPr>
        <p:spPr>
          <a:xfrm>
            <a:off x="295835" y="231391"/>
            <a:ext cx="11604812" cy="6395218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07684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E54D1AB1-9299-4FA5-80D9-4E4370E366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134" y="429193"/>
            <a:ext cx="11685732" cy="5999613"/>
          </a:xfrm>
          <a:prstGeom prst="rect">
            <a:avLst/>
          </a:prstGeom>
        </p:spPr>
      </p:pic>
      <p:sp>
        <p:nvSpPr>
          <p:cNvPr id="3" name="Rectángulo 2">
            <a:extLst>
              <a:ext uri="{FF2B5EF4-FFF2-40B4-BE49-F238E27FC236}">
                <a16:creationId xmlns:a16="http://schemas.microsoft.com/office/drawing/2014/main" id="{EC0BD6FE-F91F-43AF-AA91-FB0EE5E0B600}"/>
              </a:ext>
            </a:extLst>
          </p:cNvPr>
          <p:cNvSpPr/>
          <p:nvPr/>
        </p:nvSpPr>
        <p:spPr>
          <a:xfrm>
            <a:off x="295835" y="231391"/>
            <a:ext cx="11604812" cy="6395218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000521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86234824-936A-4F23-B772-951E260166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0835"/>
            <a:ext cx="12192000" cy="6376330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7546EBE4-03E0-42BB-A7D9-58A933FC97E1}"/>
              </a:ext>
            </a:extLst>
          </p:cNvPr>
          <p:cNvSpPr txBox="1"/>
          <p:nvPr/>
        </p:nvSpPr>
        <p:spPr>
          <a:xfrm>
            <a:off x="6539345" y="5765907"/>
            <a:ext cx="483686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/>
              <a:t>Objeto controlar el ciclo de vida: CREAR, LEER, ACTUALIZAR, BORRAR.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5682345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8981A39A-566A-4C6B-AF6B-60930B91979F}"/>
              </a:ext>
            </a:extLst>
          </p:cNvPr>
          <p:cNvSpPr txBox="1"/>
          <p:nvPr/>
        </p:nvSpPr>
        <p:spPr>
          <a:xfrm>
            <a:off x="2775219" y="551101"/>
            <a:ext cx="664156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4800" b="1" dirty="0"/>
              <a:t>Modelo Quiniela </a:t>
            </a:r>
            <a:r>
              <a:rPr lang="es-CO" sz="4800" b="1" dirty="0" err="1"/>
              <a:t>Hybrido</a:t>
            </a:r>
            <a:endParaRPr lang="es-CO" sz="4800" b="1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BA17EABF-B334-43D6-B02E-258B38079BE1}"/>
              </a:ext>
            </a:extLst>
          </p:cNvPr>
          <p:cNvSpPr txBox="1"/>
          <p:nvPr/>
        </p:nvSpPr>
        <p:spPr>
          <a:xfrm>
            <a:off x="1513585" y="3409111"/>
            <a:ext cx="166637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400" b="1" dirty="0" err="1"/>
              <a:t>Users</a:t>
            </a:r>
            <a:endParaRPr lang="es-CO" sz="2400" b="1" dirty="0"/>
          </a:p>
          <a:p>
            <a:r>
              <a:rPr lang="es-CO" sz="2400" b="1" dirty="0" err="1"/>
              <a:t>Matches</a:t>
            </a:r>
            <a:endParaRPr lang="es-CO" sz="2400" b="1" dirty="0"/>
          </a:p>
          <a:p>
            <a:r>
              <a:rPr lang="es-CO" sz="2400" b="1" dirty="0" err="1"/>
              <a:t>Predictions</a:t>
            </a:r>
            <a:endParaRPr lang="es-CO" sz="2400" b="1" dirty="0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A6883BDD-3227-44DD-B13A-259B0968020E}"/>
              </a:ext>
            </a:extLst>
          </p:cNvPr>
          <p:cNvSpPr/>
          <p:nvPr/>
        </p:nvSpPr>
        <p:spPr>
          <a:xfrm>
            <a:off x="5541818" y="1726121"/>
            <a:ext cx="4627418" cy="121673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O" sz="3200" b="1" dirty="0"/>
              <a:t>Referenciado</a:t>
            </a:r>
          </a:p>
          <a:p>
            <a:pPr algn="ctr"/>
            <a:r>
              <a:rPr lang="es-CO" dirty="0" err="1"/>
              <a:t>Predictions.user_id</a:t>
            </a:r>
            <a:endParaRPr lang="es-CO" dirty="0"/>
          </a:p>
          <a:p>
            <a:pPr algn="ctr"/>
            <a:r>
              <a:rPr lang="es-CO" dirty="0" err="1"/>
              <a:t>Predictions.match_id</a:t>
            </a:r>
            <a:endParaRPr lang="es-CO" dirty="0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6806807C-1A87-40FD-BAF2-5DA1BF166FAB}"/>
              </a:ext>
            </a:extLst>
          </p:cNvPr>
          <p:cNvSpPr/>
          <p:nvPr/>
        </p:nvSpPr>
        <p:spPr>
          <a:xfrm>
            <a:off x="5541818" y="3306774"/>
            <a:ext cx="4627418" cy="121673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O" sz="3200" b="1" dirty="0"/>
              <a:t>Embebido (resúmenes)</a:t>
            </a:r>
          </a:p>
          <a:p>
            <a:pPr algn="ctr"/>
            <a:r>
              <a:rPr lang="es-CO" dirty="0" err="1"/>
              <a:t>User_summary</a:t>
            </a:r>
            <a:r>
              <a:rPr lang="es-CO" dirty="0"/>
              <a:t>{alias}</a:t>
            </a:r>
          </a:p>
          <a:p>
            <a:pPr algn="ctr"/>
            <a:r>
              <a:rPr lang="es-CO" dirty="0" err="1"/>
              <a:t>Match_summary</a:t>
            </a:r>
            <a:r>
              <a:rPr lang="es-CO" dirty="0"/>
              <a:t>{</a:t>
            </a:r>
            <a:r>
              <a:rPr lang="es-CO" dirty="0" err="1"/>
              <a:t>local,visitante,torneo</a:t>
            </a:r>
            <a:r>
              <a:rPr lang="es-CO" dirty="0"/>
              <a:t>}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E325C4A8-FCAE-4363-B580-B81220389852}"/>
              </a:ext>
            </a:extLst>
          </p:cNvPr>
          <p:cNvSpPr/>
          <p:nvPr/>
        </p:nvSpPr>
        <p:spPr>
          <a:xfrm>
            <a:off x="5541818" y="4889888"/>
            <a:ext cx="4627418" cy="121673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O" sz="3200" b="1" dirty="0"/>
              <a:t>Fuente de la verdad</a:t>
            </a:r>
          </a:p>
          <a:p>
            <a:pPr algn="ctr"/>
            <a:r>
              <a:rPr lang="es-CO" dirty="0" err="1"/>
              <a:t>Users</a:t>
            </a:r>
            <a:r>
              <a:rPr lang="es-CO" dirty="0"/>
              <a:t>, </a:t>
            </a:r>
            <a:r>
              <a:rPr lang="es-CO" dirty="0" err="1"/>
              <a:t>Match,Predictions</a:t>
            </a:r>
            <a:endParaRPr lang="es-CO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E1DAD21E-EFBE-4AC1-95AC-AF1E5BABE535}"/>
              </a:ext>
            </a:extLst>
          </p:cNvPr>
          <p:cNvSpPr txBox="1"/>
          <p:nvPr/>
        </p:nvSpPr>
        <p:spPr>
          <a:xfrm>
            <a:off x="1302327" y="2555888"/>
            <a:ext cx="1908606" cy="52322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CO" sz="2800" b="1" dirty="0"/>
              <a:t>colecciones</a:t>
            </a:r>
          </a:p>
        </p:txBody>
      </p:sp>
      <p:sp>
        <p:nvSpPr>
          <p:cNvPr id="10" name="Abrir llave 9">
            <a:extLst>
              <a:ext uri="{FF2B5EF4-FFF2-40B4-BE49-F238E27FC236}">
                <a16:creationId xmlns:a16="http://schemas.microsoft.com/office/drawing/2014/main" id="{A1AD7B19-F25B-411D-98F5-6E773B5389CB}"/>
              </a:ext>
            </a:extLst>
          </p:cNvPr>
          <p:cNvSpPr/>
          <p:nvPr/>
        </p:nvSpPr>
        <p:spPr>
          <a:xfrm>
            <a:off x="4421855" y="1620982"/>
            <a:ext cx="371818" cy="4752109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1" name="Corchetes 10">
            <a:extLst>
              <a:ext uri="{FF2B5EF4-FFF2-40B4-BE49-F238E27FC236}">
                <a16:creationId xmlns:a16="http://schemas.microsoft.com/office/drawing/2014/main" id="{83C0B296-2DF8-41FC-B249-286A16E9B120}"/>
              </a:ext>
            </a:extLst>
          </p:cNvPr>
          <p:cNvSpPr/>
          <p:nvPr/>
        </p:nvSpPr>
        <p:spPr>
          <a:xfrm>
            <a:off x="1302327" y="3263638"/>
            <a:ext cx="1908606" cy="1626250"/>
          </a:xfrm>
          <a:prstGeom prst="bracketPair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8DBE0CBA-A700-4580-AD6E-4C3EF905BB0C}"/>
              </a:ext>
            </a:extLst>
          </p:cNvPr>
          <p:cNvSpPr/>
          <p:nvPr/>
        </p:nvSpPr>
        <p:spPr>
          <a:xfrm>
            <a:off x="295835" y="231391"/>
            <a:ext cx="11604812" cy="6395218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15CCCAE8-131F-4474-8102-B375FA01C837}"/>
              </a:ext>
            </a:extLst>
          </p:cNvPr>
          <p:cNvSpPr txBox="1"/>
          <p:nvPr/>
        </p:nvSpPr>
        <p:spPr>
          <a:xfrm>
            <a:off x="501426" y="5296583"/>
            <a:ext cx="392042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b="1" dirty="0"/>
              <a:t>Híbrido: referenciamos por </a:t>
            </a:r>
            <a:r>
              <a:rPr lang="es-ES" b="1" dirty="0" err="1"/>
              <a:t>IDs</a:t>
            </a:r>
            <a:r>
              <a:rPr lang="es-ES" b="1" dirty="0"/>
              <a:t> pero embebemos resúmenes para lectura rápida.”</a:t>
            </a:r>
            <a:endParaRPr lang="es-CO" b="1" dirty="0"/>
          </a:p>
        </p:txBody>
      </p:sp>
    </p:spTree>
    <p:extLst>
      <p:ext uri="{BB962C8B-B14F-4D97-AF65-F5344CB8AC3E}">
        <p14:creationId xmlns:p14="http://schemas.microsoft.com/office/powerpoint/2010/main" val="15135374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E1C47BA-103C-46B6-91AD-CE7A05B4EF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Diseño </a:t>
            </a:r>
            <a:r>
              <a:rPr lang="es-CO" dirty="0" err="1"/>
              <a:t>Jerarquico</a:t>
            </a:r>
            <a:br>
              <a:rPr lang="es-CO" dirty="0"/>
            </a:br>
            <a:endParaRPr lang="es-CO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88FA570-05B3-4096-868F-2F2AFB0A1BC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381991" y="1516962"/>
            <a:ext cx="3217718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sz="3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users</a:t>
            </a:r>
            <a:endParaRPr kumimoji="0" lang="es-CO" altLang="es-CO" sz="4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s-CO" altLang="es-CO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s-CO" altLang="es-CO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├ </a:t>
            </a:r>
            <a:r>
              <a:rPr kumimoji="0" lang="es-CO" altLang="es-CO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user_id</a:t>
            </a:r>
            <a:br>
              <a:rPr kumimoji="0" lang="es-CO" altLang="es-CO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s-CO" altLang="es-CO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├ nombre</a:t>
            </a:r>
            <a:br>
              <a:rPr kumimoji="0" lang="es-CO" altLang="es-CO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s-CO" altLang="es-CO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├ alias</a:t>
            </a:r>
            <a:br>
              <a:rPr kumimoji="0" lang="es-CO" altLang="es-CO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s-CO" altLang="es-CO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├ programa</a:t>
            </a:r>
            <a:br>
              <a:rPr kumimoji="0" lang="es-CO" altLang="es-CO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s-CO" altLang="es-CO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└ semestre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├ </a:t>
            </a:r>
            <a:r>
              <a:rPr kumimoji="0" lang="es-CO" altLang="es-CO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Puntos_Acumulados</a:t>
            </a:r>
            <a:endParaRPr kumimoji="0" lang="es-CO" altLang="es-CO" sz="1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63D43E8F-77BA-4C4C-A885-56CF22227D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4149008"/>
            <a:ext cx="4779818" cy="24776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sz="3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matches</a:t>
            </a:r>
            <a:endParaRPr kumimoji="0" lang="es-CO" altLang="es-CO" sz="4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s-CO" altLang="es-CO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s-CO" altLang="es-CO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├ </a:t>
            </a:r>
            <a:r>
              <a:rPr kumimoji="0" lang="es-CO" altLang="es-CO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match_id</a:t>
            </a:r>
            <a:br>
              <a:rPr kumimoji="0" lang="es-CO" altLang="es-CO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s-CO" altLang="es-CO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├ torneo</a:t>
            </a:r>
            <a:br>
              <a:rPr kumimoji="0" lang="es-CO" altLang="es-CO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s-CO" altLang="es-CO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├ fecha</a:t>
            </a:r>
            <a:br>
              <a:rPr kumimoji="0" lang="es-CO" altLang="es-CO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s-CO" altLang="es-CO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├ local</a:t>
            </a:r>
            <a:br>
              <a:rPr kumimoji="0" lang="es-CO" altLang="es-CO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s-CO" altLang="es-CO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├ visitante</a:t>
            </a:r>
            <a:br>
              <a:rPr kumimoji="0" lang="es-CO" altLang="es-CO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s-CO" altLang="es-CO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├ estado</a:t>
            </a:r>
            <a:br>
              <a:rPr kumimoji="0" lang="es-CO" altLang="es-CO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s-CO" altLang="es-CO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└ resultado { </a:t>
            </a:r>
            <a:r>
              <a:rPr kumimoji="0" lang="es-CO" altLang="es-CO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goles_local</a:t>
            </a:r>
            <a:r>
              <a:rPr kumimoji="0" lang="es-CO" altLang="es-CO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s-CO" altLang="es-CO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goles_visitante</a:t>
            </a:r>
            <a:r>
              <a:rPr kumimoji="0" lang="es-CO" altLang="es-CO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}</a:t>
            </a:r>
            <a:endParaRPr kumimoji="0" lang="es-CO" altLang="es-CO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5DE612CF-7682-46D6-A3B0-7AB4AE9E27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63491" y="1504265"/>
            <a:ext cx="7232073" cy="29854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sz="3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predictions</a:t>
            </a:r>
            <a:r>
              <a:rPr kumimoji="0" lang="es-CO" altLang="es-CO" sz="4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├ </a:t>
            </a:r>
            <a:r>
              <a:rPr kumimoji="0" lang="es-CO" altLang="es-CO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prediction_id</a:t>
            </a:r>
            <a:br>
              <a:rPr kumimoji="0" lang="es-CO" altLang="es-CO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s-CO" altLang="es-CO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├ </a:t>
            </a:r>
            <a:r>
              <a:rPr kumimoji="0" lang="es-CO" altLang="es-CO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user_id</a:t>
            </a:r>
            <a:r>
              <a:rPr kumimoji="0" lang="es-CO" altLang="es-CO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</a:t>
            </a:r>
            <a:r>
              <a:rPr kumimoji="0" lang="es-CO" altLang="es-CO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ref</a:t>
            </a:r>
            <a:r>
              <a:rPr kumimoji="0" lang="es-CO" altLang="es-CO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users</a:t>
            </a:r>
            <a:r>
              <a:rPr kumimoji="0" lang="es-CO" altLang="es-CO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  <a:br>
              <a:rPr kumimoji="0" lang="es-CO" altLang="es-CO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s-CO" altLang="es-CO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├ </a:t>
            </a:r>
            <a:r>
              <a:rPr kumimoji="0" lang="es-CO" altLang="es-CO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match_id</a:t>
            </a:r>
            <a:r>
              <a:rPr kumimoji="0" lang="es-CO" altLang="es-CO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</a:t>
            </a:r>
            <a:r>
              <a:rPr kumimoji="0" lang="es-CO" altLang="es-CO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ref</a:t>
            </a:r>
            <a:r>
              <a:rPr kumimoji="0" lang="es-CO" altLang="es-CO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matches</a:t>
            </a:r>
            <a:r>
              <a:rPr kumimoji="0" lang="es-CO" altLang="es-CO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  <a:br>
              <a:rPr kumimoji="0" lang="es-CO" altLang="es-CO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s-CO" altLang="es-CO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├ </a:t>
            </a:r>
            <a:r>
              <a:rPr kumimoji="0" lang="es-CO" altLang="es-CO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pred</a:t>
            </a:r>
            <a:r>
              <a:rPr kumimoji="0" lang="es-CO" altLang="es-CO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{ </a:t>
            </a:r>
            <a:r>
              <a:rPr kumimoji="0" lang="es-CO" altLang="es-CO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goles_local</a:t>
            </a:r>
            <a:r>
              <a:rPr kumimoji="0" lang="es-CO" altLang="es-CO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s-CO" altLang="es-CO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goles_visitante</a:t>
            </a:r>
            <a:r>
              <a:rPr kumimoji="0" lang="es-CO" altLang="es-CO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}</a:t>
            </a:r>
            <a:br>
              <a:rPr kumimoji="0" lang="es-CO" altLang="es-CO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s-CO" altLang="es-CO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├ fecha</a:t>
            </a:r>
            <a:br>
              <a:rPr kumimoji="0" lang="es-CO" altLang="es-CO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s-CO" altLang="es-CO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├ estado (activa/cerrada)</a:t>
            </a:r>
            <a:br>
              <a:rPr kumimoji="0" lang="es-CO" altLang="es-CO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s-CO" altLang="es-CO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├ </a:t>
            </a:r>
            <a:r>
              <a:rPr kumimoji="0" lang="es-CO" altLang="es-CO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user_summary</a:t>
            </a:r>
            <a:r>
              <a:rPr kumimoji="0" lang="es-CO" altLang="es-CO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{ alias } (embebido mínimo)</a:t>
            </a:r>
            <a:br>
              <a:rPr kumimoji="0" lang="es-CO" altLang="es-CO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s-CO" altLang="es-CO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├ </a:t>
            </a:r>
            <a:r>
              <a:rPr kumimoji="0" lang="es-CO" altLang="es-CO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match_summary</a:t>
            </a:r>
            <a:r>
              <a:rPr kumimoji="0" lang="es-CO" altLang="es-CO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{ local, visitante, torneo } (embebido mínimo)</a:t>
            </a:r>
            <a:br>
              <a:rPr kumimoji="0" lang="es-CO" altLang="es-CO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s-CO" altLang="es-CO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└ puntos (</a:t>
            </a:r>
            <a:r>
              <a:rPr kumimoji="0" lang="es-CO" altLang="es-CO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null</a:t>
            </a:r>
            <a:r>
              <a:rPr kumimoji="0" lang="es-CO" altLang="es-CO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 número)</a:t>
            </a:r>
            <a:endParaRPr kumimoji="0" lang="es-CO" altLang="es-CO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E41778F5-A99E-420C-86EF-4646DCC09E36}"/>
              </a:ext>
            </a:extLst>
          </p:cNvPr>
          <p:cNvCxnSpPr>
            <a:cxnSpLocks/>
          </p:cNvCxnSpPr>
          <p:nvPr/>
        </p:nvCxnSpPr>
        <p:spPr>
          <a:xfrm>
            <a:off x="1548245" y="3370118"/>
            <a:ext cx="0" cy="332056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Rectángulo 9">
            <a:extLst>
              <a:ext uri="{FF2B5EF4-FFF2-40B4-BE49-F238E27FC236}">
                <a16:creationId xmlns:a16="http://schemas.microsoft.com/office/drawing/2014/main" id="{73232469-55C7-4199-BA53-A53C4D5E17C4}"/>
              </a:ext>
            </a:extLst>
          </p:cNvPr>
          <p:cNvSpPr/>
          <p:nvPr/>
        </p:nvSpPr>
        <p:spPr>
          <a:xfrm>
            <a:off x="295835" y="231391"/>
            <a:ext cx="11604812" cy="6395218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0621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A535D9-9CF5-4A0D-BEE4-6610E9F1CB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35938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s-CO" sz="5300" b="1" dirty="0" err="1"/>
              <a:t>Insert</a:t>
            </a:r>
            <a:r>
              <a:rPr lang="es-CO" sz="5300" b="1" dirty="0"/>
              <a:t> :</a:t>
            </a:r>
            <a:br>
              <a:rPr lang="es-CO" dirty="0"/>
            </a:br>
            <a:endParaRPr lang="es-CO" dirty="0"/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EBE8482D-C94F-45EB-B3A6-CBB3B45F13CF}"/>
              </a:ext>
            </a:extLst>
          </p:cNvPr>
          <p:cNvSpPr txBox="1">
            <a:spLocks/>
          </p:cNvSpPr>
          <p:nvPr/>
        </p:nvSpPr>
        <p:spPr>
          <a:xfrm>
            <a:off x="3116052" y="980307"/>
            <a:ext cx="6878781" cy="6494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37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6000" b="1" dirty="0"/>
              <a:t>Insertar es crear un documento coherente con el diseño</a:t>
            </a:r>
            <a:br>
              <a:rPr lang="es-CO" b="1" dirty="0"/>
            </a:br>
            <a:endParaRPr lang="es-CO" b="1" dirty="0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C550D898-03CB-421A-A2ED-A7DF58A4E475}"/>
              </a:ext>
            </a:extLst>
          </p:cNvPr>
          <p:cNvSpPr/>
          <p:nvPr/>
        </p:nvSpPr>
        <p:spPr>
          <a:xfrm>
            <a:off x="295835" y="231391"/>
            <a:ext cx="11604812" cy="6395218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01E27C0F-5AB1-4CC4-9496-DBAEF6A972A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766047"/>
            <a:ext cx="10515600" cy="2462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En híbrido, coherente significa: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Si</a:t>
            </a:r>
            <a:r>
              <a:rPr kumimoji="0" lang="es-CO" altLang="es-CO" sz="4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user_id</a:t>
            </a:r>
            <a:r>
              <a:rPr kumimoji="0" lang="es-CO" altLang="es-CO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= 1</a:t>
            </a:r>
            <a:r>
              <a:rPr kumimoji="0" lang="es-CO" altLang="es-CO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entonces </a:t>
            </a:r>
            <a:r>
              <a:rPr kumimoji="0" lang="es-CO" altLang="es-CO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user_summary.alias</a:t>
            </a: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debe corresponder al usuario 1. </a:t>
            </a:r>
            <a:endParaRPr kumimoji="0" lang="es-CO" altLang="es-CO" sz="4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Si </a:t>
            </a:r>
            <a:r>
              <a:rPr kumimoji="0" lang="es-CO" altLang="es-CO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match_id</a:t>
            </a:r>
            <a:r>
              <a:rPr kumimoji="0" lang="es-CO" altLang="es-CO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= 101</a:t>
            </a:r>
            <a:r>
              <a:rPr kumimoji="0" lang="es-CO" altLang="es-CO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entonces </a:t>
            </a:r>
            <a:r>
              <a:rPr kumimoji="0" lang="es-CO" altLang="es-CO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match_summary</a:t>
            </a:r>
            <a:r>
              <a:rPr kumimoji="0" lang="es-CO" altLang="es-CO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debe corresponder a ese partido</a:t>
            </a:r>
            <a:r>
              <a:rPr kumimoji="0" lang="es-CO" altLang="es-CO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es-CO" altLang="es-CO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CO" altLang="es-CO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59274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A535D9-9CF5-4A0D-BEE4-6610E9F1CB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1218" y="681037"/>
            <a:ext cx="10106891" cy="776288"/>
          </a:xfrm>
        </p:spPr>
        <p:txBody>
          <a:bodyPr>
            <a:normAutofit fontScale="90000"/>
          </a:bodyPr>
          <a:lstStyle/>
          <a:p>
            <a:r>
              <a:rPr lang="es-CO" sz="5300" b="1" dirty="0"/>
              <a:t>Tipos de </a:t>
            </a:r>
            <a:r>
              <a:rPr lang="es-CO" sz="5300" b="1" dirty="0" err="1"/>
              <a:t>Insert</a:t>
            </a:r>
            <a:r>
              <a:rPr lang="es-CO" sz="5300" b="1" dirty="0"/>
              <a:t>  </a:t>
            </a:r>
            <a:br>
              <a:rPr lang="es-CO" dirty="0"/>
            </a:b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82053E5-3099-4868-9424-63370C8893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1499" y="2448068"/>
            <a:ext cx="10830791" cy="4351338"/>
          </a:xfrm>
        </p:spPr>
        <p:txBody>
          <a:bodyPr/>
          <a:lstStyle/>
          <a:p>
            <a:pPr marL="0" indent="0">
              <a:buNone/>
            </a:pPr>
            <a:r>
              <a:rPr lang="es-CO" dirty="0" err="1"/>
              <a:t>db.users.insertOne</a:t>
            </a:r>
            <a:r>
              <a:rPr lang="es-CO" dirty="0"/>
              <a:t>({</a:t>
            </a:r>
            <a:br>
              <a:rPr lang="es-CO" dirty="0"/>
            </a:br>
            <a:r>
              <a:rPr lang="es-CO" dirty="0" err="1"/>
              <a:t>user_id</a:t>
            </a:r>
            <a:r>
              <a:rPr lang="es-CO" dirty="0"/>
              <a:t>: 1,</a:t>
            </a:r>
            <a:br>
              <a:rPr lang="es-CO" dirty="0"/>
            </a:br>
            <a:r>
              <a:rPr lang="es-CO" dirty="0"/>
              <a:t>nombre: "Laura",</a:t>
            </a:r>
            <a:br>
              <a:rPr lang="es-CO" dirty="0"/>
            </a:br>
            <a:r>
              <a:rPr lang="es-CO" dirty="0"/>
              <a:t>alias: "</a:t>
            </a:r>
            <a:r>
              <a:rPr lang="es-CO" dirty="0" err="1"/>
              <a:t>lauX</a:t>
            </a:r>
            <a:r>
              <a:rPr lang="es-CO" dirty="0"/>
              <a:t>",</a:t>
            </a:r>
            <a:br>
              <a:rPr lang="es-CO" dirty="0"/>
            </a:br>
            <a:r>
              <a:rPr lang="es-CO" dirty="0"/>
              <a:t>programa: "Sistemas",</a:t>
            </a:r>
            <a:br>
              <a:rPr lang="es-CO" dirty="0"/>
            </a:br>
            <a:r>
              <a:rPr lang="es-CO" dirty="0"/>
              <a:t>semestre: 4,</a:t>
            </a:r>
            <a:br>
              <a:rPr lang="es-CO" dirty="0"/>
            </a:br>
            <a:r>
              <a:rPr lang="es-CO" dirty="0" err="1"/>
              <a:t>puntos_acumulados</a:t>
            </a:r>
            <a:r>
              <a:rPr lang="es-CO" dirty="0"/>
              <a:t>: 0</a:t>
            </a:r>
            <a:br>
              <a:rPr lang="es-CO" dirty="0"/>
            </a:br>
            <a:r>
              <a:rPr lang="es-CO" dirty="0"/>
              <a:t>})</a:t>
            </a: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EBE8482D-C94F-45EB-B3A6-CBB3B45F13CF}"/>
              </a:ext>
            </a:extLst>
          </p:cNvPr>
          <p:cNvSpPr txBox="1">
            <a:spLocks/>
          </p:cNvSpPr>
          <p:nvPr/>
        </p:nvSpPr>
        <p:spPr>
          <a:xfrm>
            <a:off x="3054928" y="491980"/>
            <a:ext cx="6878781" cy="6494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s-CO" dirty="0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C550D898-03CB-421A-A2ED-A7DF58A4E475}"/>
              </a:ext>
            </a:extLst>
          </p:cNvPr>
          <p:cNvSpPr/>
          <p:nvPr/>
        </p:nvSpPr>
        <p:spPr>
          <a:xfrm>
            <a:off x="295835" y="231391"/>
            <a:ext cx="11604812" cy="6395218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F8FB3DAB-7CDE-449D-AC5B-25D22FE004B0}"/>
              </a:ext>
            </a:extLst>
          </p:cNvPr>
          <p:cNvSpPr txBox="1"/>
          <p:nvPr/>
        </p:nvSpPr>
        <p:spPr>
          <a:xfrm>
            <a:off x="741218" y="1297501"/>
            <a:ext cx="684629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sz="3600" b="1" dirty="0" err="1"/>
              <a:t>InsertOne</a:t>
            </a:r>
            <a:r>
              <a:rPr lang="es-CO" sz="3600" b="1" dirty="0"/>
              <a:t>: Inserta un documento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4415440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A535D9-9CF5-4A0D-BEE4-6610E9F1CB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1218" y="681037"/>
            <a:ext cx="10106891" cy="776288"/>
          </a:xfrm>
        </p:spPr>
        <p:txBody>
          <a:bodyPr>
            <a:normAutofit fontScale="90000"/>
          </a:bodyPr>
          <a:lstStyle/>
          <a:p>
            <a:r>
              <a:rPr lang="es-CO" sz="5300" b="1" dirty="0"/>
              <a:t>Tipos de </a:t>
            </a:r>
            <a:r>
              <a:rPr lang="es-CO" sz="5300" b="1" dirty="0" err="1"/>
              <a:t>Insert</a:t>
            </a:r>
            <a:r>
              <a:rPr lang="es-CO" sz="5300" b="1" dirty="0"/>
              <a:t> </a:t>
            </a:r>
            <a:br>
              <a:rPr lang="es-CO" dirty="0"/>
            </a:br>
            <a:endParaRPr lang="es-CO" dirty="0"/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EBE8482D-C94F-45EB-B3A6-CBB3B45F13CF}"/>
              </a:ext>
            </a:extLst>
          </p:cNvPr>
          <p:cNvSpPr txBox="1">
            <a:spLocks/>
          </p:cNvSpPr>
          <p:nvPr/>
        </p:nvSpPr>
        <p:spPr>
          <a:xfrm>
            <a:off x="3054928" y="491980"/>
            <a:ext cx="6878781" cy="6494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s-CO" dirty="0"/>
          </a:p>
        </p:txBody>
      </p:sp>
      <p:sp>
        <p:nvSpPr>
          <p:cNvPr id="6" name="Marcador de contenido 2">
            <a:extLst>
              <a:ext uri="{FF2B5EF4-FFF2-40B4-BE49-F238E27FC236}">
                <a16:creationId xmlns:a16="http://schemas.microsoft.com/office/drawing/2014/main" id="{AFF436B4-34E2-4FB4-9643-24537D9C6743}"/>
              </a:ext>
            </a:extLst>
          </p:cNvPr>
          <p:cNvSpPr txBox="1">
            <a:spLocks/>
          </p:cNvSpPr>
          <p:nvPr/>
        </p:nvSpPr>
        <p:spPr>
          <a:xfrm>
            <a:off x="835467" y="2242220"/>
            <a:ext cx="1106069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CO" dirty="0" err="1"/>
              <a:t>db.users.insertMany</a:t>
            </a:r>
            <a:r>
              <a:rPr lang="es-CO" dirty="0"/>
              <a:t>([</a:t>
            </a:r>
            <a:br>
              <a:rPr lang="es-CO" dirty="0"/>
            </a:br>
            <a:r>
              <a:rPr lang="es-CO" dirty="0"/>
              <a:t>{ </a:t>
            </a:r>
            <a:r>
              <a:rPr lang="es-CO" dirty="0" err="1"/>
              <a:t>user_id</a:t>
            </a:r>
            <a:r>
              <a:rPr lang="es-CO" dirty="0"/>
              <a:t>: 1, nombre: "Laura", alias: "</a:t>
            </a:r>
            <a:r>
              <a:rPr lang="es-CO" dirty="0" err="1"/>
              <a:t>lauX</a:t>
            </a:r>
            <a:r>
              <a:rPr lang="es-CO" dirty="0"/>
              <a:t>", programa: "Sistemas", semestre: 4, </a:t>
            </a:r>
            <a:r>
              <a:rPr lang="es-CO" dirty="0" err="1"/>
              <a:t>puntos_acumulados</a:t>
            </a:r>
            <a:r>
              <a:rPr lang="es-CO" dirty="0"/>
              <a:t>: 0 },</a:t>
            </a:r>
            <a:br>
              <a:rPr lang="es-CO" dirty="0"/>
            </a:br>
            <a:r>
              <a:rPr lang="es-CO" dirty="0"/>
              <a:t>{ </a:t>
            </a:r>
            <a:r>
              <a:rPr lang="es-CO" dirty="0" err="1"/>
              <a:t>user_id</a:t>
            </a:r>
            <a:r>
              <a:rPr lang="es-CO" dirty="0"/>
              <a:t>: 2, nombre: "Carlos", alias: "</a:t>
            </a:r>
            <a:r>
              <a:rPr lang="es-CO" dirty="0" err="1"/>
              <a:t>cRuiz</a:t>
            </a:r>
            <a:r>
              <a:rPr lang="es-CO" dirty="0"/>
              <a:t>", programa: "Industrial", semestre: 4, </a:t>
            </a:r>
            <a:r>
              <a:rPr lang="es-CO" dirty="0" err="1"/>
              <a:t>puntos_acumulados</a:t>
            </a:r>
            <a:r>
              <a:rPr lang="es-CO" dirty="0"/>
              <a:t>: 0 }</a:t>
            </a:r>
            <a:br>
              <a:rPr lang="es-CO" dirty="0"/>
            </a:br>
            <a:r>
              <a:rPr lang="es-CO" dirty="0"/>
              <a:t>])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C550D898-03CB-421A-A2ED-A7DF58A4E475}"/>
              </a:ext>
            </a:extLst>
          </p:cNvPr>
          <p:cNvSpPr/>
          <p:nvPr/>
        </p:nvSpPr>
        <p:spPr>
          <a:xfrm>
            <a:off x="295835" y="231391"/>
            <a:ext cx="11604812" cy="6395218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3E77767E-C3B1-43C5-AD36-BB3F785D6433}"/>
              </a:ext>
            </a:extLst>
          </p:cNvPr>
          <p:cNvSpPr txBox="1"/>
          <p:nvPr/>
        </p:nvSpPr>
        <p:spPr>
          <a:xfrm>
            <a:off x="830985" y="1388108"/>
            <a:ext cx="797897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sz="3600" b="1" dirty="0" err="1"/>
              <a:t>InsertMany</a:t>
            </a:r>
            <a:r>
              <a:rPr lang="es-CO" sz="3600" b="1" dirty="0"/>
              <a:t>: Inserta varios documentos</a:t>
            </a:r>
          </a:p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713435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A535D9-9CF5-4A0D-BEE4-6610E9F1CB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1218" y="681037"/>
            <a:ext cx="10106891" cy="776288"/>
          </a:xfrm>
        </p:spPr>
        <p:txBody>
          <a:bodyPr>
            <a:normAutofit fontScale="90000"/>
          </a:bodyPr>
          <a:lstStyle/>
          <a:p>
            <a:r>
              <a:rPr lang="es-CO" sz="5300" b="1" dirty="0" err="1"/>
              <a:t>Insert</a:t>
            </a:r>
            <a:r>
              <a:rPr lang="es-CO" sz="5300" b="1" dirty="0"/>
              <a:t>  </a:t>
            </a:r>
            <a:br>
              <a:rPr lang="es-CO" dirty="0"/>
            </a:br>
            <a:endParaRPr lang="es-CO" dirty="0"/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EBE8482D-C94F-45EB-B3A6-CBB3B45F13CF}"/>
              </a:ext>
            </a:extLst>
          </p:cNvPr>
          <p:cNvSpPr txBox="1">
            <a:spLocks/>
          </p:cNvSpPr>
          <p:nvPr/>
        </p:nvSpPr>
        <p:spPr>
          <a:xfrm>
            <a:off x="3054928" y="491980"/>
            <a:ext cx="6878781" cy="6494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s-CO" dirty="0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C550D898-03CB-421A-A2ED-A7DF58A4E475}"/>
              </a:ext>
            </a:extLst>
          </p:cNvPr>
          <p:cNvSpPr/>
          <p:nvPr/>
        </p:nvSpPr>
        <p:spPr>
          <a:xfrm>
            <a:off x="295835" y="231391"/>
            <a:ext cx="11604812" cy="6395218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8" name="Marcador de contenido 7">
            <a:extLst>
              <a:ext uri="{FF2B5EF4-FFF2-40B4-BE49-F238E27FC236}">
                <a16:creationId xmlns:a16="http://schemas.microsoft.com/office/drawing/2014/main" id="{869A9481-60B9-47B6-8C48-F445F8E1BF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938164" cy="4351338"/>
          </a:xfrm>
        </p:spPr>
        <p:txBody>
          <a:bodyPr/>
          <a:lstStyle/>
          <a:p>
            <a:pPr marL="0" indent="0">
              <a:buNone/>
            </a:pPr>
            <a:r>
              <a:rPr lang="es-CO" dirty="0" err="1"/>
              <a:t>db.matches.insertMany</a:t>
            </a:r>
            <a:r>
              <a:rPr lang="es-CO" dirty="0"/>
              <a:t>([</a:t>
            </a:r>
            <a:br>
              <a:rPr lang="es-CO" dirty="0"/>
            </a:br>
            <a:r>
              <a:rPr lang="es-CO" dirty="0"/>
              <a:t>{ </a:t>
            </a:r>
            <a:r>
              <a:rPr lang="es-CO" dirty="0" err="1"/>
              <a:t>match_id</a:t>
            </a:r>
            <a:r>
              <a:rPr lang="es-CO" dirty="0"/>
              <a:t>: 101, torneo: "Liga </a:t>
            </a:r>
            <a:r>
              <a:rPr lang="es-CO" dirty="0" err="1"/>
              <a:t>Uni</a:t>
            </a:r>
            <a:r>
              <a:rPr lang="es-CO" dirty="0"/>
              <a:t>", fecha: new Date("2026-04-01T18:00:00"), local: "Tigres", visitante: "</a:t>
            </a:r>
            <a:r>
              <a:rPr lang="es-CO" dirty="0" err="1"/>
              <a:t>Condores</a:t>
            </a:r>
            <a:r>
              <a:rPr lang="es-CO" dirty="0"/>
              <a:t>", estado: "programado", resultado: </a:t>
            </a:r>
            <a:r>
              <a:rPr lang="es-CO" dirty="0" err="1"/>
              <a:t>null</a:t>
            </a:r>
            <a:r>
              <a:rPr lang="es-CO" dirty="0"/>
              <a:t> },</a:t>
            </a:r>
            <a:br>
              <a:rPr lang="es-CO" dirty="0"/>
            </a:br>
            <a:r>
              <a:rPr lang="es-CO" dirty="0"/>
              <a:t>{ </a:t>
            </a:r>
            <a:r>
              <a:rPr lang="es-CO" dirty="0" err="1"/>
              <a:t>match_id</a:t>
            </a:r>
            <a:r>
              <a:rPr lang="es-CO" dirty="0"/>
              <a:t>: 102, torneo: "Liga </a:t>
            </a:r>
            <a:r>
              <a:rPr lang="es-CO" dirty="0" err="1"/>
              <a:t>Uni</a:t>
            </a:r>
            <a:r>
              <a:rPr lang="es-CO" dirty="0"/>
              <a:t>", fecha: new Date("2026-04-02T18:00:00"), local: "Leones", visitante: “</a:t>
            </a:r>
            <a:r>
              <a:rPr lang="es-CO" dirty="0" err="1"/>
              <a:t>Aguilas</a:t>
            </a:r>
            <a:r>
              <a:rPr lang="es-CO" dirty="0"/>
              <a:t>", estado: "programado", resultado: </a:t>
            </a:r>
            <a:r>
              <a:rPr lang="es-CO" dirty="0" err="1"/>
              <a:t>null</a:t>
            </a:r>
            <a:r>
              <a:rPr lang="es-CO" dirty="0"/>
              <a:t> }</a:t>
            </a:r>
            <a:br>
              <a:rPr lang="es-CO" dirty="0"/>
            </a:br>
            <a:r>
              <a:rPr lang="es-CO" dirty="0"/>
              <a:t>])</a:t>
            </a:r>
          </a:p>
        </p:txBody>
      </p:sp>
    </p:spTree>
    <p:extLst>
      <p:ext uri="{BB962C8B-B14F-4D97-AF65-F5344CB8AC3E}">
        <p14:creationId xmlns:p14="http://schemas.microsoft.com/office/powerpoint/2010/main" val="13405332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A535D9-9CF5-4A0D-BEE4-6610E9F1CB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1218" y="681037"/>
            <a:ext cx="10106891" cy="776288"/>
          </a:xfrm>
        </p:spPr>
        <p:txBody>
          <a:bodyPr>
            <a:normAutofit fontScale="90000"/>
          </a:bodyPr>
          <a:lstStyle/>
          <a:p>
            <a:r>
              <a:rPr lang="es-CO" sz="5300" b="1" dirty="0"/>
              <a:t>Tipos de </a:t>
            </a:r>
            <a:r>
              <a:rPr lang="es-CO" sz="5300" b="1" dirty="0" err="1"/>
              <a:t>Insert</a:t>
            </a:r>
            <a:r>
              <a:rPr lang="es-CO" sz="5300" b="1" dirty="0"/>
              <a:t> </a:t>
            </a:r>
            <a:br>
              <a:rPr lang="es-CO" dirty="0"/>
            </a:br>
            <a:endParaRPr lang="es-CO" dirty="0"/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EBE8482D-C94F-45EB-B3A6-CBB3B45F13CF}"/>
              </a:ext>
            </a:extLst>
          </p:cNvPr>
          <p:cNvSpPr txBox="1">
            <a:spLocks/>
          </p:cNvSpPr>
          <p:nvPr/>
        </p:nvSpPr>
        <p:spPr>
          <a:xfrm>
            <a:off x="3054928" y="491980"/>
            <a:ext cx="6878781" cy="6494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s-CO" dirty="0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C550D898-03CB-421A-A2ED-A7DF58A4E475}"/>
              </a:ext>
            </a:extLst>
          </p:cNvPr>
          <p:cNvSpPr/>
          <p:nvPr/>
        </p:nvSpPr>
        <p:spPr>
          <a:xfrm>
            <a:off x="295835" y="231391"/>
            <a:ext cx="11604812" cy="6395218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8" name="Marcador de contenido 7">
            <a:extLst>
              <a:ext uri="{FF2B5EF4-FFF2-40B4-BE49-F238E27FC236}">
                <a16:creationId xmlns:a16="http://schemas.microsoft.com/office/drawing/2014/main" id="{869A9481-60B9-47B6-8C48-F445F8E1BF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938164" cy="4351338"/>
          </a:xfrm>
        </p:spPr>
        <p:txBody>
          <a:bodyPr/>
          <a:lstStyle/>
          <a:p>
            <a:pPr marL="0" indent="0">
              <a:buNone/>
            </a:pPr>
            <a:r>
              <a:rPr lang="es-CO" dirty="0" err="1"/>
              <a:t>db.matches.insertMany</a:t>
            </a:r>
            <a:r>
              <a:rPr lang="es-CO" dirty="0"/>
              <a:t>([</a:t>
            </a:r>
            <a:br>
              <a:rPr lang="es-CO" dirty="0"/>
            </a:br>
            <a:r>
              <a:rPr lang="es-CO" dirty="0"/>
              <a:t>{ </a:t>
            </a:r>
            <a:r>
              <a:rPr lang="es-CO" dirty="0" err="1"/>
              <a:t>match_id</a:t>
            </a:r>
            <a:r>
              <a:rPr lang="es-CO" dirty="0"/>
              <a:t>: 101, torneo: "Liga </a:t>
            </a:r>
            <a:r>
              <a:rPr lang="es-CO" dirty="0" err="1"/>
              <a:t>Uni</a:t>
            </a:r>
            <a:r>
              <a:rPr lang="es-CO" dirty="0"/>
              <a:t>", fecha: new Date("2026-04-01T18:00:00"), local: "Tigres", visitante: "</a:t>
            </a:r>
            <a:r>
              <a:rPr lang="es-CO" dirty="0" err="1"/>
              <a:t>Condores</a:t>
            </a:r>
            <a:r>
              <a:rPr lang="es-CO" dirty="0"/>
              <a:t>", estado: "programado", resultado: </a:t>
            </a:r>
            <a:r>
              <a:rPr lang="es-CO" dirty="0" err="1"/>
              <a:t>null</a:t>
            </a:r>
            <a:r>
              <a:rPr lang="es-CO" dirty="0"/>
              <a:t> },</a:t>
            </a:r>
            <a:br>
              <a:rPr lang="es-CO" dirty="0"/>
            </a:br>
            <a:r>
              <a:rPr lang="es-CO" dirty="0"/>
              <a:t>{ </a:t>
            </a:r>
            <a:r>
              <a:rPr lang="es-CO" dirty="0" err="1"/>
              <a:t>match_id</a:t>
            </a:r>
            <a:r>
              <a:rPr lang="es-CO" dirty="0"/>
              <a:t>: 102, torneo: "Liga </a:t>
            </a:r>
            <a:r>
              <a:rPr lang="es-CO" dirty="0" err="1"/>
              <a:t>Uni</a:t>
            </a:r>
            <a:r>
              <a:rPr lang="es-CO" dirty="0"/>
              <a:t>", fecha: new Date("2026-04-02T18:00:00"), local: "Leones", visitante: “</a:t>
            </a:r>
            <a:r>
              <a:rPr lang="es-CO" dirty="0" err="1"/>
              <a:t>Aguilas</a:t>
            </a:r>
            <a:r>
              <a:rPr lang="es-CO" dirty="0"/>
              <a:t>", estado: "programado", resultado: </a:t>
            </a:r>
            <a:r>
              <a:rPr lang="es-CO" dirty="0" err="1"/>
              <a:t>null</a:t>
            </a:r>
            <a:r>
              <a:rPr lang="es-CO" dirty="0"/>
              <a:t> }</a:t>
            </a:r>
            <a:br>
              <a:rPr lang="es-CO" dirty="0"/>
            </a:br>
            <a:r>
              <a:rPr lang="es-CO" dirty="0"/>
              <a:t>])</a:t>
            </a:r>
          </a:p>
        </p:txBody>
      </p:sp>
    </p:spTree>
    <p:extLst>
      <p:ext uri="{BB962C8B-B14F-4D97-AF65-F5344CB8AC3E}">
        <p14:creationId xmlns:p14="http://schemas.microsoft.com/office/powerpoint/2010/main" val="25692027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A535D9-9CF5-4A0D-BEE4-6610E9F1CB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1218" y="681037"/>
            <a:ext cx="10106891" cy="776288"/>
          </a:xfrm>
        </p:spPr>
        <p:txBody>
          <a:bodyPr>
            <a:normAutofit fontScale="90000"/>
          </a:bodyPr>
          <a:lstStyle/>
          <a:p>
            <a:r>
              <a:rPr lang="es-CO" sz="5300" b="1" dirty="0"/>
              <a:t>Tipos de </a:t>
            </a:r>
            <a:r>
              <a:rPr lang="es-CO" sz="5300" b="1" dirty="0" err="1"/>
              <a:t>Insert</a:t>
            </a:r>
            <a:r>
              <a:rPr lang="es-CO" sz="5300" b="1" dirty="0"/>
              <a:t> </a:t>
            </a:r>
            <a:br>
              <a:rPr lang="es-CO" dirty="0"/>
            </a:br>
            <a:endParaRPr lang="es-CO" dirty="0"/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EBE8482D-C94F-45EB-B3A6-CBB3B45F13CF}"/>
              </a:ext>
            </a:extLst>
          </p:cNvPr>
          <p:cNvSpPr txBox="1">
            <a:spLocks/>
          </p:cNvSpPr>
          <p:nvPr/>
        </p:nvSpPr>
        <p:spPr>
          <a:xfrm>
            <a:off x="3054928" y="491980"/>
            <a:ext cx="6878781" cy="6494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s-CO" dirty="0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C550D898-03CB-421A-A2ED-A7DF58A4E475}"/>
              </a:ext>
            </a:extLst>
          </p:cNvPr>
          <p:cNvSpPr/>
          <p:nvPr/>
        </p:nvSpPr>
        <p:spPr>
          <a:xfrm>
            <a:off x="295835" y="231391"/>
            <a:ext cx="11604812" cy="6395218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AB28BDE1-5403-4708-9566-D3325C16141E}"/>
              </a:ext>
            </a:extLst>
          </p:cNvPr>
          <p:cNvSpPr txBox="1"/>
          <p:nvPr/>
        </p:nvSpPr>
        <p:spPr>
          <a:xfrm>
            <a:off x="481445" y="1310009"/>
            <a:ext cx="12025745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2800" dirty="0" err="1"/>
              <a:t>db.predictions.insertOne</a:t>
            </a:r>
            <a:r>
              <a:rPr lang="es-CO" sz="2800" dirty="0"/>
              <a:t>({</a:t>
            </a:r>
            <a:br>
              <a:rPr lang="es-CO" sz="2800" dirty="0"/>
            </a:br>
            <a:r>
              <a:rPr lang="es-CO" sz="2800" dirty="0" err="1"/>
              <a:t>prediction_id</a:t>
            </a:r>
            <a:r>
              <a:rPr lang="es-CO" sz="2800" dirty="0"/>
              <a:t>: 9001,</a:t>
            </a:r>
            <a:br>
              <a:rPr lang="es-CO" sz="2800" dirty="0"/>
            </a:br>
            <a:r>
              <a:rPr lang="es-CO" sz="2800" dirty="0" err="1"/>
              <a:t>user_id</a:t>
            </a:r>
            <a:r>
              <a:rPr lang="es-CO" sz="2800" dirty="0"/>
              <a:t>: 1,</a:t>
            </a:r>
            <a:br>
              <a:rPr lang="es-CO" sz="2800" dirty="0"/>
            </a:br>
            <a:r>
              <a:rPr lang="es-CO" sz="2800" dirty="0" err="1"/>
              <a:t>match_id</a:t>
            </a:r>
            <a:r>
              <a:rPr lang="es-CO" sz="2800" dirty="0"/>
              <a:t>: 101,</a:t>
            </a:r>
            <a:br>
              <a:rPr lang="es-CO" sz="2800" dirty="0"/>
            </a:br>
            <a:r>
              <a:rPr lang="es-CO" sz="2800" dirty="0" err="1"/>
              <a:t>pred</a:t>
            </a:r>
            <a:r>
              <a:rPr lang="es-CO" sz="2800" dirty="0"/>
              <a:t>: { </a:t>
            </a:r>
            <a:r>
              <a:rPr lang="es-CO" sz="2800" dirty="0" err="1"/>
              <a:t>goles_local</a:t>
            </a:r>
            <a:r>
              <a:rPr lang="es-CO" sz="2800" dirty="0"/>
              <a:t>: 2, </a:t>
            </a:r>
            <a:r>
              <a:rPr lang="es-CO" sz="2800" dirty="0" err="1"/>
              <a:t>goles_visitante</a:t>
            </a:r>
            <a:r>
              <a:rPr lang="es-CO" sz="2800" dirty="0"/>
              <a:t>: 1 },</a:t>
            </a:r>
            <a:br>
              <a:rPr lang="es-CO" sz="2800" dirty="0"/>
            </a:br>
            <a:r>
              <a:rPr lang="es-CO" sz="2800" dirty="0"/>
              <a:t>fecha: new Date("2026-04-01T12:00:00"),</a:t>
            </a:r>
            <a:br>
              <a:rPr lang="es-CO" sz="2800" dirty="0"/>
            </a:br>
            <a:r>
              <a:rPr lang="es-CO" sz="2800" dirty="0"/>
              <a:t>estado: "activa",</a:t>
            </a:r>
            <a:br>
              <a:rPr lang="es-CO" sz="2800" dirty="0"/>
            </a:br>
            <a:r>
              <a:rPr lang="es-CO" sz="2800" dirty="0" err="1"/>
              <a:t>user_summary</a:t>
            </a:r>
            <a:r>
              <a:rPr lang="es-CO" sz="2800" dirty="0"/>
              <a:t>: { alias: "</a:t>
            </a:r>
            <a:r>
              <a:rPr lang="es-CO" sz="2800" dirty="0" err="1"/>
              <a:t>lauX</a:t>
            </a:r>
            <a:r>
              <a:rPr lang="es-CO" sz="2800" dirty="0"/>
              <a:t>" },</a:t>
            </a:r>
            <a:br>
              <a:rPr lang="es-CO" sz="2800" dirty="0"/>
            </a:br>
            <a:r>
              <a:rPr lang="es-CO" sz="2800" dirty="0" err="1"/>
              <a:t>match_summary</a:t>
            </a:r>
            <a:r>
              <a:rPr lang="es-CO" sz="2800" dirty="0"/>
              <a:t>: { local: "Tigres", visitante: "</a:t>
            </a:r>
            <a:r>
              <a:rPr lang="es-CO" sz="2800" dirty="0" err="1"/>
              <a:t>Condores</a:t>
            </a:r>
            <a:r>
              <a:rPr lang="es-CO" sz="2800" dirty="0"/>
              <a:t>", torneo: "Liga </a:t>
            </a:r>
            <a:r>
              <a:rPr lang="es-CO" sz="2800" dirty="0" err="1"/>
              <a:t>Uni</a:t>
            </a:r>
            <a:r>
              <a:rPr lang="es-CO" sz="2800" dirty="0"/>
              <a:t>" },</a:t>
            </a:r>
            <a:br>
              <a:rPr lang="es-CO" sz="2800" dirty="0"/>
            </a:br>
            <a:r>
              <a:rPr lang="es-CO" sz="2800" dirty="0"/>
              <a:t>puntos: </a:t>
            </a:r>
            <a:r>
              <a:rPr lang="es-CO" sz="2800" dirty="0" err="1"/>
              <a:t>null</a:t>
            </a:r>
            <a:br>
              <a:rPr lang="es-CO" sz="2800" dirty="0"/>
            </a:br>
            <a:r>
              <a:rPr lang="es-CO" sz="2800" dirty="0"/>
              <a:t>})</a:t>
            </a:r>
          </a:p>
        </p:txBody>
      </p:sp>
    </p:spTree>
    <p:extLst>
      <p:ext uri="{BB962C8B-B14F-4D97-AF65-F5344CB8AC3E}">
        <p14:creationId xmlns:p14="http://schemas.microsoft.com/office/powerpoint/2010/main" val="34826286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A535D9-9CF5-4A0D-BEE4-6610E9F1CB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1218" y="681037"/>
            <a:ext cx="10106891" cy="776288"/>
          </a:xfrm>
        </p:spPr>
        <p:txBody>
          <a:bodyPr>
            <a:normAutofit fontScale="90000"/>
          </a:bodyPr>
          <a:lstStyle/>
          <a:p>
            <a:r>
              <a:rPr lang="es-CO" sz="5300" b="1" dirty="0"/>
              <a:t>Tipos de </a:t>
            </a:r>
            <a:r>
              <a:rPr lang="es-CO" sz="5300" b="1" dirty="0" err="1"/>
              <a:t>Insert</a:t>
            </a:r>
            <a:r>
              <a:rPr lang="es-CO" sz="5300" b="1" dirty="0"/>
              <a:t> </a:t>
            </a:r>
            <a:br>
              <a:rPr lang="es-CO" dirty="0"/>
            </a:br>
            <a:endParaRPr lang="es-CO" dirty="0"/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EBE8482D-C94F-45EB-B3A6-CBB3B45F13CF}"/>
              </a:ext>
            </a:extLst>
          </p:cNvPr>
          <p:cNvSpPr txBox="1">
            <a:spLocks/>
          </p:cNvSpPr>
          <p:nvPr/>
        </p:nvSpPr>
        <p:spPr>
          <a:xfrm>
            <a:off x="3054928" y="491980"/>
            <a:ext cx="6878781" cy="6494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s-CO" dirty="0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C550D898-03CB-421A-A2ED-A7DF58A4E475}"/>
              </a:ext>
            </a:extLst>
          </p:cNvPr>
          <p:cNvSpPr/>
          <p:nvPr/>
        </p:nvSpPr>
        <p:spPr>
          <a:xfrm>
            <a:off x="295835" y="231391"/>
            <a:ext cx="11604812" cy="6395218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AB28BDE1-5403-4708-9566-D3325C16141E}"/>
              </a:ext>
            </a:extLst>
          </p:cNvPr>
          <p:cNvSpPr txBox="1"/>
          <p:nvPr/>
        </p:nvSpPr>
        <p:spPr>
          <a:xfrm>
            <a:off x="481445" y="1310009"/>
            <a:ext cx="12025745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2800" dirty="0" err="1"/>
              <a:t>db.predictions.insertMany</a:t>
            </a:r>
            <a:r>
              <a:rPr lang="es-CO" sz="2800" dirty="0"/>
              <a:t>([</a:t>
            </a:r>
            <a:br>
              <a:rPr lang="es-CO" sz="2800" dirty="0"/>
            </a:br>
            <a:r>
              <a:rPr lang="es-CO" sz="2800" dirty="0"/>
              <a:t>{ </a:t>
            </a:r>
            <a:r>
              <a:rPr lang="es-CO" sz="2800" dirty="0" err="1"/>
              <a:t>prediction_id</a:t>
            </a:r>
            <a:r>
              <a:rPr lang="es-CO" sz="2800" dirty="0"/>
              <a:t>: 9001, </a:t>
            </a:r>
            <a:r>
              <a:rPr lang="es-CO" sz="2800" dirty="0" err="1"/>
              <a:t>user_id</a:t>
            </a:r>
            <a:r>
              <a:rPr lang="es-CO" sz="2800" dirty="0"/>
              <a:t>: 1, </a:t>
            </a:r>
            <a:r>
              <a:rPr lang="es-CO" sz="2800" dirty="0" err="1"/>
              <a:t>match_id</a:t>
            </a:r>
            <a:r>
              <a:rPr lang="es-CO" sz="2800" dirty="0"/>
              <a:t>: 101, </a:t>
            </a:r>
            <a:r>
              <a:rPr lang="es-CO" sz="2800" dirty="0" err="1"/>
              <a:t>pred</a:t>
            </a:r>
            <a:r>
              <a:rPr lang="es-CO" sz="2800" dirty="0"/>
              <a:t>: { </a:t>
            </a:r>
            <a:r>
              <a:rPr lang="es-CO" sz="2800" dirty="0" err="1"/>
              <a:t>goles_local</a:t>
            </a:r>
            <a:r>
              <a:rPr lang="es-CO" sz="2800" dirty="0"/>
              <a:t>: 2, </a:t>
            </a:r>
            <a:r>
              <a:rPr lang="es-CO" sz="2800" dirty="0" err="1"/>
              <a:t>goles_visitante</a:t>
            </a:r>
            <a:r>
              <a:rPr lang="es-CO" sz="2800" dirty="0"/>
              <a:t>: 1 }, fecha: new Date("2026-04-01T12:00:00"), estado: "activa", </a:t>
            </a:r>
            <a:r>
              <a:rPr lang="es-CO" sz="2800" dirty="0" err="1"/>
              <a:t>user_summary</a:t>
            </a:r>
            <a:r>
              <a:rPr lang="es-CO" sz="2800" dirty="0"/>
              <a:t>: { alias: "</a:t>
            </a:r>
            <a:r>
              <a:rPr lang="es-CO" sz="2800" dirty="0" err="1"/>
              <a:t>lauX</a:t>
            </a:r>
            <a:r>
              <a:rPr lang="es-CO" sz="2800" dirty="0"/>
              <a:t>" }, </a:t>
            </a:r>
            <a:r>
              <a:rPr lang="es-CO" sz="2800" dirty="0" err="1"/>
              <a:t>match_summary</a:t>
            </a:r>
            <a:r>
              <a:rPr lang="es-CO" sz="2800" dirty="0"/>
              <a:t>: { local: "Tigres", visitante: "</a:t>
            </a:r>
            <a:r>
              <a:rPr lang="es-CO" sz="2800" dirty="0" err="1"/>
              <a:t>Condores</a:t>
            </a:r>
            <a:r>
              <a:rPr lang="es-CO" sz="2800" dirty="0"/>
              <a:t>", torneo: "Liga </a:t>
            </a:r>
            <a:r>
              <a:rPr lang="es-CO" sz="2800" dirty="0" err="1"/>
              <a:t>Uni</a:t>
            </a:r>
            <a:r>
              <a:rPr lang="es-CO" sz="2800" dirty="0"/>
              <a:t>" }, puntos: </a:t>
            </a:r>
            <a:r>
              <a:rPr lang="es-CO" sz="2800" dirty="0" err="1"/>
              <a:t>null</a:t>
            </a:r>
            <a:r>
              <a:rPr lang="es-CO" sz="2800" dirty="0"/>
              <a:t> },</a:t>
            </a:r>
            <a:br>
              <a:rPr lang="es-CO" sz="2800" dirty="0"/>
            </a:br>
            <a:r>
              <a:rPr lang="es-CO" sz="2800" dirty="0"/>
              <a:t>{ </a:t>
            </a:r>
            <a:r>
              <a:rPr lang="es-CO" sz="2800" dirty="0" err="1"/>
              <a:t>prediction_id</a:t>
            </a:r>
            <a:r>
              <a:rPr lang="es-CO" sz="2800" dirty="0"/>
              <a:t>: 9002, </a:t>
            </a:r>
            <a:r>
              <a:rPr lang="es-CO" sz="2800" dirty="0" err="1"/>
              <a:t>user_id</a:t>
            </a:r>
            <a:r>
              <a:rPr lang="es-CO" sz="2800" dirty="0"/>
              <a:t>: 2, </a:t>
            </a:r>
            <a:r>
              <a:rPr lang="es-CO" sz="2800" dirty="0" err="1"/>
              <a:t>match_id</a:t>
            </a:r>
            <a:r>
              <a:rPr lang="es-CO" sz="2800" dirty="0"/>
              <a:t>: 101, </a:t>
            </a:r>
            <a:r>
              <a:rPr lang="es-CO" sz="2800" dirty="0" err="1"/>
              <a:t>pred</a:t>
            </a:r>
            <a:r>
              <a:rPr lang="es-CO" sz="2800" dirty="0"/>
              <a:t>: { </a:t>
            </a:r>
            <a:r>
              <a:rPr lang="es-CO" sz="2800" dirty="0" err="1"/>
              <a:t>goles_local</a:t>
            </a:r>
            <a:r>
              <a:rPr lang="es-CO" sz="2800" dirty="0"/>
              <a:t>: 1, </a:t>
            </a:r>
            <a:r>
              <a:rPr lang="es-CO" sz="2800" dirty="0" err="1"/>
              <a:t>goles_visitante</a:t>
            </a:r>
            <a:r>
              <a:rPr lang="es-CO" sz="2800" dirty="0"/>
              <a:t>: 1 }, fecha: new Date("2026-04-01T12:05:00"), estado: "activa", </a:t>
            </a:r>
            <a:r>
              <a:rPr lang="es-CO" sz="2800" dirty="0" err="1"/>
              <a:t>user_summary</a:t>
            </a:r>
            <a:r>
              <a:rPr lang="es-CO" sz="2800" dirty="0"/>
              <a:t>: { alias: "</a:t>
            </a:r>
            <a:r>
              <a:rPr lang="es-CO" sz="2800" dirty="0" err="1"/>
              <a:t>cRuiz</a:t>
            </a:r>
            <a:r>
              <a:rPr lang="es-CO" sz="2800" dirty="0"/>
              <a:t>" }, </a:t>
            </a:r>
            <a:r>
              <a:rPr lang="es-CO" sz="2800" dirty="0" err="1"/>
              <a:t>match_summary</a:t>
            </a:r>
            <a:r>
              <a:rPr lang="es-CO" sz="2800" dirty="0"/>
              <a:t>: { local: "Tigres", visitante: "</a:t>
            </a:r>
            <a:r>
              <a:rPr lang="es-CO" sz="2800" dirty="0" err="1"/>
              <a:t>Condores</a:t>
            </a:r>
            <a:r>
              <a:rPr lang="es-CO" sz="2800" dirty="0"/>
              <a:t>", torneo: "Liga </a:t>
            </a:r>
            <a:r>
              <a:rPr lang="es-CO" sz="2800" dirty="0" err="1"/>
              <a:t>Uni</a:t>
            </a:r>
            <a:r>
              <a:rPr lang="es-CO" sz="2800" dirty="0"/>
              <a:t>" }, puntos: </a:t>
            </a:r>
            <a:r>
              <a:rPr lang="es-CO" sz="2800" dirty="0" err="1"/>
              <a:t>null</a:t>
            </a:r>
            <a:r>
              <a:rPr lang="es-CO" sz="2800" dirty="0"/>
              <a:t> }</a:t>
            </a:r>
            <a:br>
              <a:rPr lang="es-CO" sz="2800" dirty="0"/>
            </a:br>
            <a:r>
              <a:rPr lang="es-CO" sz="2800" dirty="0"/>
              <a:t>])</a:t>
            </a:r>
          </a:p>
        </p:txBody>
      </p:sp>
    </p:spTree>
    <p:extLst>
      <p:ext uri="{BB962C8B-B14F-4D97-AF65-F5344CB8AC3E}">
        <p14:creationId xmlns:p14="http://schemas.microsoft.com/office/powerpoint/2010/main" val="1711432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A535D9-9CF5-4A0D-BEE4-6610E9F1CB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1218" y="681037"/>
            <a:ext cx="10106891" cy="776288"/>
          </a:xfrm>
        </p:spPr>
        <p:txBody>
          <a:bodyPr>
            <a:normAutofit fontScale="90000"/>
          </a:bodyPr>
          <a:lstStyle/>
          <a:p>
            <a:r>
              <a:rPr lang="es-CO" sz="5300" b="1" dirty="0" err="1"/>
              <a:t>Read</a:t>
            </a:r>
            <a:br>
              <a:rPr lang="es-CO" dirty="0"/>
            </a:br>
            <a:endParaRPr lang="es-CO" dirty="0"/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EBE8482D-C94F-45EB-B3A6-CBB3B45F13CF}"/>
              </a:ext>
            </a:extLst>
          </p:cNvPr>
          <p:cNvSpPr txBox="1">
            <a:spLocks/>
          </p:cNvSpPr>
          <p:nvPr/>
        </p:nvSpPr>
        <p:spPr>
          <a:xfrm>
            <a:off x="3054928" y="491980"/>
            <a:ext cx="6878781" cy="6494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s-CO" dirty="0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C550D898-03CB-421A-A2ED-A7DF58A4E475}"/>
              </a:ext>
            </a:extLst>
          </p:cNvPr>
          <p:cNvSpPr/>
          <p:nvPr/>
        </p:nvSpPr>
        <p:spPr>
          <a:xfrm>
            <a:off x="295835" y="231391"/>
            <a:ext cx="11604812" cy="6395218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AB28BDE1-5403-4708-9566-D3325C16141E}"/>
              </a:ext>
            </a:extLst>
          </p:cNvPr>
          <p:cNvSpPr txBox="1"/>
          <p:nvPr/>
        </p:nvSpPr>
        <p:spPr>
          <a:xfrm>
            <a:off x="702762" y="1177403"/>
            <a:ext cx="608561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2800" dirty="0" err="1"/>
              <a:t>db.users.find</a:t>
            </a:r>
            <a:r>
              <a:rPr lang="es-CO" sz="2800" dirty="0"/>
              <a:t>()</a:t>
            </a:r>
            <a:br>
              <a:rPr lang="es-CO" sz="2800" dirty="0"/>
            </a:br>
            <a:r>
              <a:rPr lang="es-CO" sz="2800" dirty="0" err="1"/>
              <a:t>db.matches.find</a:t>
            </a:r>
            <a:r>
              <a:rPr lang="es-CO" sz="2800" dirty="0"/>
              <a:t>()</a:t>
            </a:r>
            <a:br>
              <a:rPr lang="es-CO" sz="2800" dirty="0"/>
            </a:br>
            <a:r>
              <a:rPr lang="es-CO" sz="2800" dirty="0" err="1"/>
              <a:t>db.predictions.find</a:t>
            </a:r>
            <a:r>
              <a:rPr lang="es-CO" sz="2800" dirty="0"/>
              <a:t>().</a:t>
            </a:r>
            <a:r>
              <a:rPr lang="es-CO" sz="2800" dirty="0" err="1"/>
              <a:t>pretty</a:t>
            </a:r>
            <a:r>
              <a:rPr lang="es-CO" sz="2800" dirty="0"/>
              <a:t>()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AB2790F3-59A4-49FB-8482-BCC8F3A73A87}"/>
              </a:ext>
            </a:extLst>
          </p:cNvPr>
          <p:cNvSpPr txBox="1"/>
          <p:nvPr/>
        </p:nvSpPr>
        <p:spPr>
          <a:xfrm>
            <a:off x="6222831" y="1910447"/>
            <a:ext cx="21009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Ver todo rápido</a:t>
            </a:r>
          </a:p>
          <a:p>
            <a:endParaRPr lang="es-CO" dirty="0"/>
          </a:p>
        </p:txBody>
      </p:sp>
      <p:sp>
        <p:nvSpPr>
          <p:cNvPr id="5" name="Cerrar llave 4">
            <a:extLst>
              <a:ext uri="{FF2B5EF4-FFF2-40B4-BE49-F238E27FC236}">
                <a16:creationId xmlns:a16="http://schemas.microsoft.com/office/drawing/2014/main" id="{E121AA9C-1F6C-4CE4-A4A9-1D7ED6228BC3}"/>
              </a:ext>
            </a:extLst>
          </p:cNvPr>
          <p:cNvSpPr/>
          <p:nvPr/>
        </p:nvSpPr>
        <p:spPr>
          <a:xfrm>
            <a:off x="5476826" y="1204416"/>
            <a:ext cx="748145" cy="1384995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09A2E379-403D-4049-B1E9-18A9758C15C8}"/>
              </a:ext>
            </a:extLst>
          </p:cNvPr>
          <p:cNvSpPr txBox="1"/>
          <p:nvPr/>
        </p:nvSpPr>
        <p:spPr>
          <a:xfrm>
            <a:off x="964826" y="4097391"/>
            <a:ext cx="7592903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2800" dirty="0" err="1"/>
              <a:t>db.predictions.find</a:t>
            </a:r>
            <a:r>
              <a:rPr lang="es-CO" sz="2800" dirty="0"/>
              <a:t>({ </a:t>
            </a:r>
            <a:r>
              <a:rPr lang="es-CO" sz="2800" dirty="0" err="1"/>
              <a:t>user_id</a:t>
            </a:r>
            <a:r>
              <a:rPr lang="es-CO" sz="2800" dirty="0"/>
              <a:t>: 1 })</a:t>
            </a:r>
            <a:br>
              <a:rPr lang="es-CO" sz="2800" dirty="0"/>
            </a:br>
            <a:r>
              <a:rPr lang="es-CO" sz="2800" dirty="0" err="1"/>
              <a:t>db.predictions.find</a:t>
            </a:r>
            <a:r>
              <a:rPr lang="es-CO" sz="2800" dirty="0"/>
              <a:t>({ </a:t>
            </a:r>
            <a:r>
              <a:rPr lang="es-CO" sz="2800" dirty="0" err="1"/>
              <a:t>match_id</a:t>
            </a:r>
            <a:r>
              <a:rPr lang="es-CO" sz="2800" dirty="0"/>
              <a:t>: 101 })</a:t>
            </a:r>
            <a:br>
              <a:rPr lang="es-CO" sz="2800" dirty="0"/>
            </a:br>
            <a:r>
              <a:rPr lang="es-CO" sz="2800" dirty="0" err="1"/>
              <a:t>db.matches.find</a:t>
            </a:r>
            <a:r>
              <a:rPr lang="es-CO" sz="2800" dirty="0"/>
              <a:t>({ estado: "programado" })</a:t>
            </a:r>
          </a:p>
        </p:txBody>
      </p:sp>
      <p:sp>
        <p:nvSpPr>
          <p:cNvPr id="11" name="Cerrar llave 10">
            <a:extLst>
              <a:ext uri="{FF2B5EF4-FFF2-40B4-BE49-F238E27FC236}">
                <a16:creationId xmlns:a16="http://schemas.microsoft.com/office/drawing/2014/main" id="{7B826DCF-A854-4D21-8950-A726FEF94965}"/>
              </a:ext>
            </a:extLst>
          </p:cNvPr>
          <p:cNvSpPr/>
          <p:nvPr/>
        </p:nvSpPr>
        <p:spPr>
          <a:xfrm>
            <a:off x="7949658" y="3774227"/>
            <a:ext cx="748145" cy="1384995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5383F6D6-FB37-4B7B-9F62-C2CCE0DA1EE1}"/>
              </a:ext>
            </a:extLst>
          </p:cNvPr>
          <p:cNvSpPr txBox="1"/>
          <p:nvPr/>
        </p:nvSpPr>
        <p:spPr>
          <a:xfrm>
            <a:off x="9178738" y="4143558"/>
            <a:ext cx="21009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Filtros Básicos</a:t>
            </a:r>
          </a:p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8102213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A535D9-9CF5-4A0D-BEE4-6610E9F1CB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1218" y="637888"/>
            <a:ext cx="10106891" cy="776288"/>
          </a:xfrm>
        </p:spPr>
        <p:txBody>
          <a:bodyPr>
            <a:normAutofit fontScale="90000"/>
          </a:bodyPr>
          <a:lstStyle/>
          <a:p>
            <a:r>
              <a:rPr lang="es-CO" sz="5300" b="1" dirty="0" err="1"/>
              <a:t>Read</a:t>
            </a:r>
            <a:br>
              <a:rPr lang="es-CO" dirty="0"/>
            </a:br>
            <a:endParaRPr lang="es-CO" dirty="0"/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EBE8482D-C94F-45EB-B3A6-CBB3B45F13CF}"/>
              </a:ext>
            </a:extLst>
          </p:cNvPr>
          <p:cNvSpPr txBox="1">
            <a:spLocks/>
          </p:cNvSpPr>
          <p:nvPr/>
        </p:nvSpPr>
        <p:spPr>
          <a:xfrm>
            <a:off x="3054928" y="491980"/>
            <a:ext cx="6878781" cy="6494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s-CO" dirty="0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C550D898-03CB-421A-A2ED-A7DF58A4E475}"/>
              </a:ext>
            </a:extLst>
          </p:cNvPr>
          <p:cNvSpPr/>
          <p:nvPr/>
        </p:nvSpPr>
        <p:spPr>
          <a:xfrm>
            <a:off x="293594" y="0"/>
            <a:ext cx="11604812" cy="6395218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4" name="Cerrar llave 13">
            <a:extLst>
              <a:ext uri="{FF2B5EF4-FFF2-40B4-BE49-F238E27FC236}">
                <a16:creationId xmlns:a16="http://schemas.microsoft.com/office/drawing/2014/main" id="{6A65DE3F-E69C-4072-8EE3-6EA434FAF46F}"/>
              </a:ext>
            </a:extLst>
          </p:cNvPr>
          <p:cNvSpPr/>
          <p:nvPr/>
        </p:nvSpPr>
        <p:spPr>
          <a:xfrm>
            <a:off x="8540054" y="1656768"/>
            <a:ext cx="748145" cy="1384995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497D6973-74AC-4100-AF02-66A73EC9BDA9}"/>
              </a:ext>
            </a:extLst>
          </p:cNvPr>
          <p:cNvSpPr txBox="1"/>
          <p:nvPr/>
        </p:nvSpPr>
        <p:spPr>
          <a:xfrm>
            <a:off x="593300" y="1402002"/>
            <a:ext cx="7649289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2800" dirty="0" err="1"/>
              <a:t>db.predictions.find</a:t>
            </a:r>
            <a:r>
              <a:rPr lang="es-CO" sz="2800" dirty="0"/>
              <a:t>(</a:t>
            </a:r>
            <a:br>
              <a:rPr lang="es-CO" sz="2800" dirty="0"/>
            </a:br>
            <a:r>
              <a:rPr lang="es-CO" sz="2800" dirty="0"/>
              <a:t>{ </a:t>
            </a:r>
            <a:r>
              <a:rPr lang="es-CO" sz="2800" dirty="0" err="1"/>
              <a:t>match_id</a:t>
            </a:r>
            <a:r>
              <a:rPr lang="es-CO" sz="2800" dirty="0"/>
              <a:t>: 101 },</a:t>
            </a:r>
            <a:br>
              <a:rPr lang="es-CO" sz="2800" dirty="0"/>
            </a:br>
            <a:r>
              <a:rPr lang="es-CO" sz="2800" dirty="0"/>
              <a:t>{ _id: 0, </a:t>
            </a:r>
            <a:r>
              <a:rPr lang="es-CO" sz="2800" dirty="0" err="1"/>
              <a:t>prediction_id</a:t>
            </a:r>
            <a:r>
              <a:rPr lang="es-CO" sz="2800" dirty="0"/>
              <a:t>: 1, "</a:t>
            </a:r>
            <a:r>
              <a:rPr lang="es-CO" sz="2800" dirty="0" err="1"/>
              <a:t>user_summary.alias</a:t>
            </a:r>
            <a:r>
              <a:rPr lang="es-CO" sz="2800" dirty="0"/>
              <a:t>": 1, </a:t>
            </a:r>
            <a:r>
              <a:rPr lang="es-CO" sz="2800" dirty="0" err="1"/>
              <a:t>match_summary</a:t>
            </a:r>
            <a:r>
              <a:rPr lang="es-CO" sz="2800" dirty="0"/>
              <a:t>: 1, </a:t>
            </a:r>
            <a:r>
              <a:rPr lang="es-CO" sz="2800" dirty="0" err="1"/>
              <a:t>pred</a:t>
            </a:r>
            <a:r>
              <a:rPr lang="es-CO" sz="2800" dirty="0"/>
              <a:t>: 1, estado: 1, </a:t>
            </a:r>
            <a:r>
              <a:rPr lang="es-CO" sz="2800" dirty="0" err="1"/>
              <a:t>match_id</a:t>
            </a:r>
            <a:r>
              <a:rPr lang="es-CO" sz="2800" dirty="0"/>
              <a:t>=1 }</a:t>
            </a:r>
            <a:br>
              <a:rPr lang="es-CO" sz="2800" dirty="0"/>
            </a:br>
            <a:r>
              <a:rPr lang="es-CO" sz="2800" dirty="0"/>
              <a:t>)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059C59CC-8057-4027-B1D4-66EF05C6211B}"/>
              </a:ext>
            </a:extLst>
          </p:cNvPr>
          <p:cNvSpPr txBox="1"/>
          <p:nvPr/>
        </p:nvSpPr>
        <p:spPr>
          <a:xfrm>
            <a:off x="9585664" y="2026099"/>
            <a:ext cx="21009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dirty="0"/>
              <a:t>Que claves mostrar</a:t>
            </a:r>
          </a:p>
          <a:p>
            <a:pPr algn="ctr"/>
            <a:r>
              <a:rPr lang="es-CO" dirty="0"/>
              <a:t>Proyección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5BAE2D7C-E549-4F42-8A5B-DB4B533C32D0}"/>
              </a:ext>
            </a:extLst>
          </p:cNvPr>
          <p:cNvSpPr txBox="1"/>
          <p:nvPr/>
        </p:nvSpPr>
        <p:spPr>
          <a:xfrm>
            <a:off x="741218" y="4279507"/>
            <a:ext cx="609824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s-CO" dirty="0"/>
          </a:p>
          <a:p>
            <a:pPr rtl="0"/>
            <a:r>
              <a:rPr lang="es-CO" dirty="0" err="1"/>
              <a:t>db.predictions.find</a:t>
            </a:r>
            <a:r>
              <a:rPr lang="es-CO" dirty="0"/>
              <a:t>(</a:t>
            </a:r>
            <a:br>
              <a:rPr lang="es-CO" dirty="0"/>
            </a:br>
            <a:r>
              <a:rPr lang="es-CO" dirty="0"/>
              <a:t>{},</a:t>
            </a:r>
            <a:br>
              <a:rPr lang="es-CO" dirty="0"/>
            </a:br>
            <a:r>
              <a:rPr lang="es-CO" dirty="0"/>
              <a:t>{ _id: 0, </a:t>
            </a:r>
            <a:r>
              <a:rPr lang="es-CO" dirty="0" err="1"/>
              <a:t>prediction_id</a:t>
            </a:r>
            <a:r>
              <a:rPr lang="es-CO" dirty="0"/>
              <a:t>: 1, </a:t>
            </a:r>
            <a:r>
              <a:rPr lang="es-CO" dirty="0" err="1"/>
              <a:t>user_summary</a:t>
            </a:r>
            <a:r>
              <a:rPr lang="es-CO" dirty="0"/>
              <a:t>: 1, </a:t>
            </a:r>
            <a:r>
              <a:rPr lang="es-CO" dirty="0" err="1"/>
              <a:t>match_summary</a:t>
            </a:r>
            <a:r>
              <a:rPr lang="es-CO" dirty="0"/>
              <a:t>: 1, fecha: 1 }</a:t>
            </a:r>
            <a:br>
              <a:rPr lang="es-CO" dirty="0"/>
            </a:br>
            <a:r>
              <a:rPr lang="es-CO" dirty="0"/>
              <a:t>).</a:t>
            </a:r>
            <a:r>
              <a:rPr lang="es-CO" dirty="0" err="1"/>
              <a:t>sort</a:t>
            </a:r>
            <a:r>
              <a:rPr lang="es-CO" dirty="0"/>
              <a:t>({ fecha: -1 }).</a:t>
            </a:r>
            <a:r>
              <a:rPr lang="es-CO" dirty="0" err="1"/>
              <a:t>limit</a:t>
            </a:r>
            <a:r>
              <a:rPr lang="es-CO" dirty="0"/>
              <a:t>(5)</a:t>
            </a:r>
          </a:p>
        </p:txBody>
      </p:sp>
      <p:sp>
        <p:nvSpPr>
          <p:cNvPr id="23" name="Título 1">
            <a:extLst>
              <a:ext uri="{FF2B5EF4-FFF2-40B4-BE49-F238E27FC236}">
                <a16:creationId xmlns:a16="http://schemas.microsoft.com/office/drawing/2014/main" id="{30E46DDA-965C-4B43-B480-8789EB855111}"/>
              </a:ext>
            </a:extLst>
          </p:cNvPr>
          <p:cNvSpPr txBox="1">
            <a:spLocks/>
          </p:cNvSpPr>
          <p:nvPr/>
        </p:nvSpPr>
        <p:spPr>
          <a:xfrm>
            <a:off x="593300" y="3803804"/>
            <a:ext cx="10106891" cy="7762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6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 sz="5300" b="1" dirty="0" err="1"/>
              <a:t>Sort</a:t>
            </a:r>
            <a:r>
              <a:rPr lang="es-CO" sz="5300" b="1" dirty="0"/>
              <a:t> + </a:t>
            </a:r>
            <a:r>
              <a:rPr lang="es-CO" sz="5300" b="1" dirty="0" err="1"/>
              <a:t>Limit</a:t>
            </a:r>
            <a:br>
              <a:rPr lang="es-CO" dirty="0"/>
            </a:br>
            <a:endParaRPr lang="es-CO" dirty="0"/>
          </a:p>
        </p:txBody>
      </p:sp>
      <p:sp>
        <p:nvSpPr>
          <p:cNvPr id="24" name="Rectangle 4">
            <a:extLst>
              <a:ext uri="{FF2B5EF4-FFF2-40B4-BE49-F238E27FC236}">
                <a16:creationId xmlns:a16="http://schemas.microsoft.com/office/drawing/2014/main" id="{F838DFB3-AB36-4A87-BE58-EF3CF1CABF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13797" y="3993315"/>
            <a:ext cx="3086100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Qué documentos quiero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(filtro)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Qué campos quiero ver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(proyección)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Cómo los ordeno y cuántos muestro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</a:t>
            </a:r>
            <a:r>
              <a:rPr kumimoji="0" lang="es-CO" altLang="es-CO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sort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+ </a:t>
            </a:r>
            <a:r>
              <a:rPr kumimoji="0" lang="es-CO" altLang="es-CO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limit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 </a:t>
            </a:r>
          </a:p>
        </p:txBody>
      </p:sp>
      <p:sp>
        <p:nvSpPr>
          <p:cNvPr id="25" name="Cerrar llave 24">
            <a:extLst>
              <a:ext uri="{FF2B5EF4-FFF2-40B4-BE49-F238E27FC236}">
                <a16:creationId xmlns:a16="http://schemas.microsoft.com/office/drawing/2014/main" id="{AB57E6A2-9B59-43D5-A302-9EA2BE37E3F2}"/>
              </a:ext>
            </a:extLst>
          </p:cNvPr>
          <p:cNvSpPr/>
          <p:nvPr/>
        </p:nvSpPr>
        <p:spPr>
          <a:xfrm>
            <a:off x="6956203" y="4289683"/>
            <a:ext cx="748145" cy="1384995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386723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EBE8482D-C94F-45EB-B3A6-CBB3B45F13CF}"/>
              </a:ext>
            </a:extLst>
          </p:cNvPr>
          <p:cNvSpPr txBox="1">
            <a:spLocks/>
          </p:cNvSpPr>
          <p:nvPr/>
        </p:nvSpPr>
        <p:spPr>
          <a:xfrm>
            <a:off x="3054928" y="491980"/>
            <a:ext cx="6878781" cy="6494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s-CO" dirty="0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C550D898-03CB-421A-A2ED-A7DF58A4E475}"/>
              </a:ext>
            </a:extLst>
          </p:cNvPr>
          <p:cNvSpPr/>
          <p:nvPr/>
        </p:nvSpPr>
        <p:spPr>
          <a:xfrm>
            <a:off x="293594" y="231391"/>
            <a:ext cx="11604812" cy="6395218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5BAE2D7C-E549-4F42-8A5B-DB4B533C32D0}"/>
              </a:ext>
            </a:extLst>
          </p:cNvPr>
          <p:cNvSpPr txBox="1"/>
          <p:nvPr/>
        </p:nvSpPr>
        <p:spPr>
          <a:xfrm>
            <a:off x="455570" y="767943"/>
            <a:ext cx="609824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s-CO" dirty="0"/>
          </a:p>
          <a:p>
            <a:pPr rtl="0"/>
            <a:r>
              <a:rPr lang="es-CO" dirty="0" err="1"/>
              <a:t>db.predictions.find</a:t>
            </a:r>
            <a:r>
              <a:rPr lang="es-CO" dirty="0"/>
              <a:t>(</a:t>
            </a:r>
            <a:br>
              <a:rPr lang="es-CO" dirty="0"/>
            </a:br>
            <a:r>
              <a:rPr lang="es-CO" dirty="0"/>
              <a:t>{},</a:t>
            </a:r>
            <a:br>
              <a:rPr lang="es-CO" dirty="0"/>
            </a:br>
            <a:r>
              <a:rPr lang="es-CO" dirty="0"/>
              <a:t>{ _id: 0, </a:t>
            </a:r>
            <a:r>
              <a:rPr lang="es-CO" dirty="0" err="1"/>
              <a:t>prediction_id</a:t>
            </a:r>
            <a:r>
              <a:rPr lang="es-CO" dirty="0"/>
              <a:t>: 1, </a:t>
            </a:r>
            <a:r>
              <a:rPr lang="es-CO" dirty="0" err="1"/>
              <a:t>user_summary</a:t>
            </a:r>
            <a:r>
              <a:rPr lang="es-CO" dirty="0"/>
              <a:t>: 1, </a:t>
            </a:r>
            <a:r>
              <a:rPr lang="es-CO" dirty="0" err="1"/>
              <a:t>match_summary</a:t>
            </a:r>
            <a:r>
              <a:rPr lang="es-CO" dirty="0"/>
              <a:t>: 1, fecha: 1 }</a:t>
            </a:r>
            <a:br>
              <a:rPr lang="es-CO" dirty="0"/>
            </a:br>
            <a:r>
              <a:rPr lang="es-CO" dirty="0"/>
              <a:t>).</a:t>
            </a:r>
            <a:r>
              <a:rPr lang="es-CO" dirty="0" err="1"/>
              <a:t>sort</a:t>
            </a:r>
            <a:r>
              <a:rPr lang="es-CO" dirty="0"/>
              <a:t>({ fecha: -1 }).</a:t>
            </a:r>
            <a:r>
              <a:rPr lang="es-CO" dirty="0" err="1"/>
              <a:t>limit</a:t>
            </a:r>
            <a:r>
              <a:rPr lang="es-CO" dirty="0"/>
              <a:t>(5)</a:t>
            </a:r>
          </a:p>
        </p:txBody>
      </p:sp>
      <p:sp>
        <p:nvSpPr>
          <p:cNvPr id="23" name="Título 1">
            <a:extLst>
              <a:ext uri="{FF2B5EF4-FFF2-40B4-BE49-F238E27FC236}">
                <a16:creationId xmlns:a16="http://schemas.microsoft.com/office/drawing/2014/main" id="{30E46DDA-965C-4B43-B480-8789EB855111}"/>
              </a:ext>
            </a:extLst>
          </p:cNvPr>
          <p:cNvSpPr txBox="1">
            <a:spLocks/>
          </p:cNvSpPr>
          <p:nvPr/>
        </p:nvSpPr>
        <p:spPr>
          <a:xfrm>
            <a:off x="293594" y="357440"/>
            <a:ext cx="10106891" cy="7762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6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 sz="5300" b="1" dirty="0" err="1"/>
              <a:t>Sort</a:t>
            </a:r>
            <a:r>
              <a:rPr lang="es-CO" sz="5300" b="1" dirty="0"/>
              <a:t> + </a:t>
            </a:r>
            <a:r>
              <a:rPr lang="es-CO" sz="5300" b="1" dirty="0" err="1"/>
              <a:t>Limit</a:t>
            </a:r>
            <a:br>
              <a:rPr lang="es-CO" dirty="0"/>
            </a:br>
            <a:endParaRPr lang="es-CO" dirty="0"/>
          </a:p>
        </p:txBody>
      </p:sp>
      <p:sp>
        <p:nvSpPr>
          <p:cNvPr id="24" name="Rectangle 4">
            <a:extLst>
              <a:ext uri="{FF2B5EF4-FFF2-40B4-BE49-F238E27FC236}">
                <a16:creationId xmlns:a16="http://schemas.microsoft.com/office/drawing/2014/main" id="{F838DFB3-AB36-4A87-BE58-EF3CF1CABF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9921" y="3967647"/>
            <a:ext cx="5404851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Qué documentos quiero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(filtro)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Qué campos quiero ver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(proyección)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Cómo los ordeno y cuántos muestro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</a:t>
            </a:r>
            <a:r>
              <a:rPr kumimoji="0" lang="es-CO" altLang="es-CO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sort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+ </a:t>
            </a:r>
            <a:r>
              <a:rPr kumimoji="0" lang="es-CO" altLang="es-CO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limit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 </a:t>
            </a:r>
          </a:p>
        </p:txBody>
      </p:sp>
      <p:sp>
        <p:nvSpPr>
          <p:cNvPr id="25" name="Cerrar llave 24">
            <a:extLst>
              <a:ext uri="{FF2B5EF4-FFF2-40B4-BE49-F238E27FC236}">
                <a16:creationId xmlns:a16="http://schemas.microsoft.com/office/drawing/2014/main" id="{AB57E6A2-9B59-43D5-A302-9EA2BE37E3F2}"/>
              </a:ext>
            </a:extLst>
          </p:cNvPr>
          <p:cNvSpPr/>
          <p:nvPr/>
        </p:nvSpPr>
        <p:spPr>
          <a:xfrm>
            <a:off x="5347039" y="3738747"/>
            <a:ext cx="748145" cy="1754323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1FE1F8AA-F16B-4BD0-A39D-052F146B5B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99682" y="268255"/>
            <a:ext cx="7172579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 estoy filtrando nada, tráeme todas las predicciones.”</a:t>
            </a:r>
            <a:endParaRPr kumimoji="0" lang="es-CO" altLang="es-CO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 SQL sería como: 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SELECT ... FROM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predictions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;</a:t>
            </a:r>
            <a:r>
              <a:rPr kumimoji="0" lang="es-CO" altLang="es-CO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sin WHERE.</a:t>
            </a:r>
            <a:endParaRPr kumimoji="0" lang="es-CO" altLang="es-CO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9" name="Conector recto de flecha 8">
            <a:extLst>
              <a:ext uri="{FF2B5EF4-FFF2-40B4-BE49-F238E27FC236}">
                <a16:creationId xmlns:a16="http://schemas.microsoft.com/office/drawing/2014/main" id="{D700024C-8D46-4008-85E3-BEFC5707335C}"/>
              </a:ext>
            </a:extLst>
          </p:cNvPr>
          <p:cNvCxnSpPr>
            <a:cxnSpLocks/>
          </p:cNvCxnSpPr>
          <p:nvPr/>
        </p:nvCxnSpPr>
        <p:spPr>
          <a:xfrm>
            <a:off x="1496291" y="2522269"/>
            <a:ext cx="2267484" cy="3314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2">
            <a:extLst>
              <a:ext uri="{FF2B5EF4-FFF2-40B4-BE49-F238E27FC236}">
                <a16:creationId xmlns:a16="http://schemas.microsoft.com/office/drawing/2014/main" id="{8DEDD476-E5B4-47CA-B8EF-E4D2B6FE7F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91521" y="2628876"/>
            <a:ext cx="5891340" cy="9848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Ordena por fecha de forma descendente”</a:t>
            </a:r>
            <a:endParaRPr kumimoji="0" lang="es-CO" altLang="es-CO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-1</a:t>
            </a:r>
            <a:r>
              <a:rPr kumimoji="0" lang="es-CO" altLang="es-CO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= de mayor a menor (más reciente primero) </a:t>
            </a:r>
            <a:endParaRPr kumimoji="0" lang="es-CO" altLang="es-CO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1</a:t>
            </a:r>
            <a:r>
              <a:rPr kumimoji="0" lang="es-CO" altLang="es-CO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= de menor a mayor (más antiguo primero)</a:t>
            </a:r>
            <a:endParaRPr kumimoji="0" lang="es-CO" altLang="es-CO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CO" altLang="es-CO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19" name="Conector recto de flecha 18">
            <a:extLst>
              <a:ext uri="{FF2B5EF4-FFF2-40B4-BE49-F238E27FC236}">
                <a16:creationId xmlns:a16="http://schemas.microsoft.com/office/drawing/2014/main" id="{186D79B9-3C6B-47B1-80D6-89A8F951190C}"/>
              </a:ext>
            </a:extLst>
          </p:cNvPr>
          <p:cNvCxnSpPr>
            <a:cxnSpLocks/>
          </p:cNvCxnSpPr>
          <p:nvPr/>
        </p:nvCxnSpPr>
        <p:spPr>
          <a:xfrm flipV="1">
            <a:off x="745013" y="816696"/>
            <a:ext cx="4854669" cy="6878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CuadroTexto 20">
            <a:extLst>
              <a:ext uri="{FF2B5EF4-FFF2-40B4-BE49-F238E27FC236}">
                <a16:creationId xmlns:a16="http://schemas.microsoft.com/office/drawing/2014/main" id="{300FCBBA-51C1-42AD-A6BF-CEB6B00A4219}"/>
              </a:ext>
            </a:extLst>
          </p:cNvPr>
          <p:cNvSpPr txBox="1"/>
          <p:nvPr/>
        </p:nvSpPr>
        <p:spPr>
          <a:xfrm>
            <a:off x="6494318" y="5443726"/>
            <a:ext cx="525061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/>
              <a:t>Muéstrame las 5 predicciones más recientes, mostrando solo campos importantes.”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11443368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A535D9-9CF5-4A0D-BEE4-6610E9F1CB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CO" sz="5300" b="1" dirty="0" err="1"/>
              <a:t>Update</a:t>
            </a:r>
            <a:r>
              <a:rPr lang="es-CO" sz="5300" b="1" dirty="0"/>
              <a:t> </a:t>
            </a:r>
            <a:br>
              <a:rPr lang="es-CO" dirty="0"/>
            </a:b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82053E5-3099-4868-9424-63370C8893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922818" cy="4351338"/>
          </a:xfrm>
        </p:spPr>
        <p:txBody>
          <a:bodyPr/>
          <a:lstStyle/>
          <a:p>
            <a:r>
              <a:rPr lang="es-CO" dirty="0"/>
              <a:t>$set → cambiar o crear un campo</a:t>
            </a:r>
          </a:p>
          <a:p>
            <a:r>
              <a:rPr lang="es-CO" dirty="0"/>
              <a:t>$</a:t>
            </a:r>
            <a:r>
              <a:rPr lang="es-CO" dirty="0" err="1"/>
              <a:t>inc</a:t>
            </a:r>
            <a:r>
              <a:rPr lang="es-CO" dirty="0"/>
              <a:t> → sumar/restar un número</a:t>
            </a:r>
          </a:p>
          <a:p>
            <a:r>
              <a:rPr lang="es-CO" dirty="0"/>
              <a:t>$</a:t>
            </a:r>
            <a:r>
              <a:rPr lang="es-CO" dirty="0" err="1"/>
              <a:t>push</a:t>
            </a:r>
            <a:r>
              <a:rPr lang="es-CO" dirty="0"/>
              <a:t> → agregar a una lista (array) (permite duplicados)</a:t>
            </a:r>
          </a:p>
          <a:p>
            <a:r>
              <a:rPr lang="es-CO" dirty="0"/>
              <a:t>$</a:t>
            </a:r>
            <a:r>
              <a:rPr lang="es-CO" dirty="0" err="1"/>
              <a:t>addToSet</a:t>
            </a:r>
            <a:r>
              <a:rPr lang="es-CO" dirty="0"/>
              <a:t> → agregar a una lista sin duplicar</a:t>
            </a:r>
          </a:p>
          <a:p>
            <a:r>
              <a:rPr lang="es-CO" dirty="0" err="1"/>
              <a:t>updateOne</a:t>
            </a:r>
            <a:r>
              <a:rPr lang="es-CO" dirty="0"/>
              <a:t> → afecta 1 documento</a:t>
            </a:r>
          </a:p>
          <a:p>
            <a:r>
              <a:rPr lang="es-CO" dirty="0" err="1"/>
              <a:t>updateMany</a:t>
            </a:r>
            <a:r>
              <a:rPr lang="es-CO" dirty="0"/>
              <a:t> → afecta varios</a:t>
            </a: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EBE8482D-C94F-45EB-B3A6-CBB3B45F13CF}"/>
              </a:ext>
            </a:extLst>
          </p:cNvPr>
          <p:cNvSpPr txBox="1">
            <a:spLocks/>
          </p:cNvSpPr>
          <p:nvPr/>
        </p:nvSpPr>
        <p:spPr>
          <a:xfrm>
            <a:off x="3406180" y="230188"/>
            <a:ext cx="10120745" cy="11606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 sz="2400" dirty="0"/>
              <a:t>Actualizar según el tipo de diseño</a:t>
            </a:r>
            <a:endParaRPr lang="es-CO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DDABC4EF-669E-41C7-A9E1-753ADAAD7A46}"/>
              </a:ext>
            </a:extLst>
          </p:cNvPr>
          <p:cNvSpPr/>
          <p:nvPr/>
        </p:nvSpPr>
        <p:spPr>
          <a:xfrm>
            <a:off x="293594" y="231391"/>
            <a:ext cx="11604812" cy="6395218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3350175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A535D9-9CF5-4A0D-BEE4-6610E9F1CB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CO" sz="5300" b="1" dirty="0" err="1"/>
              <a:t>Update</a:t>
            </a:r>
            <a:r>
              <a:rPr lang="es-CO" sz="5300" b="1" dirty="0"/>
              <a:t> </a:t>
            </a:r>
            <a:br>
              <a:rPr lang="es-CO" dirty="0"/>
            </a:b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82053E5-3099-4868-9424-63370C8893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24602"/>
            <a:ext cx="9825319" cy="944469"/>
          </a:xfrm>
        </p:spPr>
        <p:txBody>
          <a:bodyPr>
            <a:normAutofit/>
          </a:bodyPr>
          <a:lstStyle/>
          <a:p>
            <a:pPr marL="514350" indent="-514350">
              <a:buAutoNum type="arabicParenR"/>
            </a:pPr>
            <a:r>
              <a:rPr lang="es-CO" dirty="0"/>
              <a:t>Finalizar partido (dato maestro referenciado)</a:t>
            </a:r>
          </a:p>
          <a:p>
            <a:pPr marL="514350" indent="-514350">
              <a:buAutoNum type="arabicParenR"/>
            </a:pPr>
            <a:endParaRPr lang="es-CO" dirty="0"/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EBE8482D-C94F-45EB-B3A6-CBB3B45F13CF}"/>
              </a:ext>
            </a:extLst>
          </p:cNvPr>
          <p:cNvSpPr txBox="1">
            <a:spLocks/>
          </p:cNvSpPr>
          <p:nvPr/>
        </p:nvSpPr>
        <p:spPr>
          <a:xfrm>
            <a:off x="3406180" y="230188"/>
            <a:ext cx="10120745" cy="11606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 sz="2400" dirty="0"/>
              <a:t>Alteraciones de los valores de las claves con un sentido</a:t>
            </a:r>
            <a:endParaRPr lang="es-CO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DDABC4EF-669E-41C7-A9E1-753ADAAD7A46}"/>
              </a:ext>
            </a:extLst>
          </p:cNvPr>
          <p:cNvSpPr/>
          <p:nvPr/>
        </p:nvSpPr>
        <p:spPr>
          <a:xfrm>
            <a:off x="293594" y="231391"/>
            <a:ext cx="11604812" cy="6395218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7751DA09-64A9-44AA-B9E7-FF76EC4AFFEF}"/>
              </a:ext>
            </a:extLst>
          </p:cNvPr>
          <p:cNvSpPr txBox="1"/>
          <p:nvPr/>
        </p:nvSpPr>
        <p:spPr>
          <a:xfrm>
            <a:off x="3406180" y="2111501"/>
            <a:ext cx="676387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dirty="0" err="1"/>
              <a:t>db.matches.updateOne</a:t>
            </a:r>
            <a:r>
              <a:rPr lang="es-CO" dirty="0"/>
              <a:t>(</a:t>
            </a:r>
            <a:br>
              <a:rPr lang="es-CO" dirty="0"/>
            </a:br>
            <a:r>
              <a:rPr lang="es-CO" dirty="0"/>
              <a:t>{ </a:t>
            </a:r>
            <a:r>
              <a:rPr lang="es-CO" dirty="0" err="1"/>
              <a:t>match_id</a:t>
            </a:r>
            <a:r>
              <a:rPr lang="es-CO" dirty="0"/>
              <a:t>: 101 },</a:t>
            </a:r>
            <a:br>
              <a:rPr lang="es-CO" dirty="0"/>
            </a:br>
            <a:r>
              <a:rPr lang="es-CO" dirty="0"/>
              <a:t>{ $set: { estado: "finalizado", resultado: { </a:t>
            </a:r>
            <a:r>
              <a:rPr lang="es-CO" dirty="0" err="1"/>
              <a:t>goles_local</a:t>
            </a:r>
            <a:r>
              <a:rPr lang="es-CO" dirty="0"/>
              <a:t>: 2, </a:t>
            </a:r>
            <a:r>
              <a:rPr lang="es-CO" dirty="0" err="1"/>
              <a:t>goles_visitante</a:t>
            </a:r>
            <a:r>
              <a:rPr lang="es-CO" dirty="0"/>
              <a:t>: 1 } } }</a:t>
            </a:r>
            <a:br>
              <a:rPr lang="es-CO" dirty="0"/>
            </a:br>
            <a:r>
              <a:rPr lang="es-CO" dirty="0"/>
              <a:t>)</a:t>
            </a:r>
          </a:p>
        </p:txBody>
      </p:sp>
      <p:sp>
        <p:nvSpPr>
          <p:cNvPr id="8" name="Marcador de contenido 2">
            <a:extLst>
              <a:ext uri="{FF2B5EF4-FFF2-40B4-BE49-F238E27FC236}">
                <a16:creationId xmlns:a16="http://schemas.microsoft.com/office/drawing/2014/main" id="{9E7ADA5A-0C26-4737-8ECE-7EA8FEC2B815}"/>
              </a:ext>
            </a:extLst>
          </p:cNvPr>
          <p:cNvSpPr txBox="1">
            <a:spLocks/>
          </p:cNvSpPr>
          <p:nvPr/>
        </p:nvSpPr>
        <p:spPr>
          <a:xfrm>
            <a:off x="838200" y="3801638"/>
            <a:ext cx="9825319" cy="94446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dirty="0"/>
              <a:t>2)   Cerrar predicciones del partido (muchas a la vez)</a:t>
            </a:r>
            <a:endParaRPr lang="es-CO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6A7DD3A4-5C15-416A-98D0-34220CE40200}"/>
              </a:ext>
            </a:extLst>
          </p:cNvPr>
          <p:cNvSpPr txBox="1"/>
          <p:nvPr/>
        </p:nvSpPr>
        <p:spPr>
          <a:xfrm>
            <a:off x="3406180" y="4486028"/>
            <a:ext cx="676387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dirty="0" err="1"/>
              <a:t>db.predictions.updateMany</a:t>
            </a:r>
            <a:r>
              <a:rPr lang="es-CO" dirty="0"/>
              <a:t>(</a:t>
            </a:r>
            <a:br>
              <a:rPr lang="es-CO" dirty="0"/>
            </a:br>
            <a:r>
              <a:rPr lang="es-CO" dirty="0"/>
              <a:t>{ </a:t>
            </a:r>
            <a:r>
              <a:rPr lang="es-CO" dirty="0" err="1"/>
              <a:t>match_id</a:t>
            </a:r>
            <a:r>
              <a:rPr lang="es-CO" dirty="0"/>
              <a:t>: 101 },</a:t>
            </a:r>
            <a:br>
              <a:rPr lang="es-CO" dirty="0"/>
            </a:br>
            <a:r>
              <a:rPr lang="es-CO" dirty="0"/>
              <a:t>{ $set: { estado: "cerrada" } }</a:t>
            </a:r>
            <a:br>
              <a:rPr lang="es-CO" dirty="0"/>
            </a:br>
            <a:r>
              <a:rPr lang="es-CO" dirty="0"/>
              <a:t>)</a:t>
            </a:r>
          </a:p>
        </p:txBody>
      </p:sp>
      <p:cxnSp>
        <p:nvCxnSpPr>
          <p:cNvPr id="11" name="Conector recto de flecha 10">
            <a:extLst>
              <a:ext uri="{FF2B5EF4-FFF2-40B4-BE49-F238E27FC236}">
                <a16:creationId xmlns:a16="http://schemas.microsoft.com/office/drawing/2014/main" id="{D199E343-4697-4EED-A90C-3EEC4ABDB668}"/>
              </a:ext>
            </a:extLst>
          </p:cNvPr>
          <p:cNvCxnSpPr>
            <a:cxnSpLocks/>
          </p:cNvCxnSpPr>
          <p:nvPr/>
        </p:nvCxnSpPr>
        <p:spPr>
          <a:xfrm flipV="1">
            <a:off x="5745277" y="2115387"/>
            <a:ext cx="3508922" cy="1438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CuadroTexto 11">
            <a:extLst>
              <a:ext uri="{FF2B5EF4-FFF2-40B4-BE49-F238E27FC236}">
                <a16:creationId xmlns:a16="http://schemas.microsoft.com/office/drawing/2014/main" id="{ED241F2A-79B0-4009-AD9B-376C26B4A5EE}"/>
              </a:ext>
            </a:extLst>
          </p:cNvPr>
          <p:cNvSpPr txBox="1"/>
          <p:nvPr/>
        </p:nvSpPr>
        <p:spPr>
          <a:xfrm>
            <a:off x="9170894" y="1949824"/>
            <a:ext cx="26483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dirty="0"/>
              <a:t>Afecta solo un documento</a:t>
            </a:r>
          </a:p>
        </p:txBody>
      </p:sp>
    </p:spTree>
    <p:extLst>
      <p:ext uri="{BB962C8B-B14F-4D97-AF65-F5344CB8AC3E}">
        <p14:creationId xmlns:p14="http://schemas.microsoft.com/office/powerpoint/2010/main" val="253331916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A535D9-9CF5-4A0D-BEE4-6610E9F1CB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CO" sz="5300" b="1" dirty="0" err="1"/>
              <a:t>Update</a:t>
            </a:r>
            <a:r>
              <a:rPr lang="es-CO" sz="5300" b="1" dirty="0"/>
              <a:t> </a:t>
            </a:r>
            <a:br>
              <a:rPr lang="es-CO" dirty="0"/>
            </a:b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82053E5-3099-4868-9424-63370C8893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24602"/>
            <a:ext cx="9825319" cy="94446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dirty="0"/>
              <a:t>3)  Asignar puntos a una predicción</a:t>
            </a:r>
            <a:endParaRPr lang="es-CO" dirty="0"/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EBE8482D-C94F-45EB-B3A6-CBB3B45F13CF}"/>
              </a:ext>
            </a:extLst>
          </p:cNvPr>
          <p:cNvSpPr txBox="1">
            <a:spLocks/>
          </p:cNvSpPr>
          <p:nvPr/>
        </p:nvSpPr>
        <p:spPr>
          <a:xfrm>
            <a:off x="3406180" y="230188"/>
            <a:ext cx="10120745" cy="11606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 sz="2400" dirty="0"/>
              <a:t>Alteraciones de los valores de las claves con un sentido</a:t>
            </a:r>
            <a:endParaRPr lang="es-CO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DDABC4EF-669E-41C7-A9E1-753ADAAD7A46}"/>
              </a:ext>
            </a:extLst>
          </p:cNvPr>
          <p:cNvSpPr/>
          <p:nvPr/>
        </p:nvSpPr>
        <p:spPr>
          <a:xfrm>
            <a:off x="293594" y="231391"/>
            <a:ext cx="11604812" cy="6395218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7751DA09-64A9-44AA-B9E7-FF76EC4AFFEF}"/>
              </a:ext>
            </a:extLst>
          </p:cNvPr>
          <p:cNvSpPr txBox="1"/>
          <p:nvPr/>
        </p:nvSpPr>
        <p:spPr>
          <a:xfrm>
            <a:off x="3406180" y="2111501"/>
            <a:ext cx="676387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dirty="0" err="1"/>
              <a:t>db.predictions.updateOne</a:t>
            </a:r>
            <a:r>
              <a:rPr lang="es-CO" dirty="0"/>
              <a:t>(</a:t>
            </a:r>
            <a:br>
              <a:rPr lang="es-CO" dirty="0"/>
            </a:br>
            <a:r>
              <a:rPr lang="es-CO" dirty="0"/>
              <a:t>{ </a:t>
            </a:r>
            <a:r>
              <a:rPr lang="es-CO" dirty="0" err="1"/>
              <a:t>prediction_id</a:t>
            </a:r>
            <a:r>
              <a:rPr lang="es-CO" dirty="0"/>
              <a:t>: 9001 },</a:t>
            </a:r>
            <a:br>
              <a:rPr lang="es-CO" dirty="0"/>
            </a:br>
            <a:r>
              <a:rPr lang="es-CO" dirty="0"/>
              <a:t>{ $set: { puntos: 3 } }</a:t>
            </a:r>
            <a:br>
              <a:rPr lang="es-CO" dirty="0"/>
            </a:br>
            <a:r>
              <a:rPr lang="es-CO" dirty="0"/>
              <a:t>)</a:t>
            </a:r>
          </a:p>
        </p:txBody>
      </p:sp>
      <p:sp>
        <p:nvSpPr>
          <p:cNvPr id="8" name="Marcador de contenido 2">
            <a:extLst>
              <a:ext uri="{FF2B5EF4-FFF2-40B4-BE49-F238E27FC236}">
                <a16:creationId xmlns:a16="http://schemas.microsoft.com/office/drawing/2014/main" id="{9E7ADA5A-0C26-4737-8ECE-7EA8FEC2B815}"/>
              </a:ext>
            </a:extLst>
          </p:cNvPr>
          <p:cNvSpPr txBox="1">
            <a:spLocks/>
          </p:cNvSpPr>
          <p:nvPr/>
        </p:nvSpPr>
        <p:spPr>
          <a:xfrm>
            <a:off x="838200" y="3801638"/>
            <a:ext cx="9825319" cy="94446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dirty="0"/>
              <a:t>4)  I</a:t>
            </a:r>
            <a:r>
              <a:rPr lang="es-CO" dirty="0" err="1"/>
              <a:t>ncrementar</a:t>
            </a:r>
            <a:r>
              <a:rPr lang="es-CO" dirty="0"/>
              <a:t> acumulado del usuario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6A7DD3A4-5C15-416A-98D0-34220CE40200}"/>
              </a:ext>
            </a:extLst>
          </p:cNvPr>
          <p:cNvSpPr txBox="1"/>
          <p:nvPr/>
        </p:nvSpPr>
        <p:spPr>
          <a:xfrm>
            <a:off x="3406180" y="4486028"/>
            <a:ext cx="676387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dirty="0" err="1"/>
              <a:t>db.users.updateOne</a:t>
            </a:r>
            <a:r>
              <a:rPr lang="es-CO" dirty="0"/>
              <a:t>(</a:t>
            </a:r>
            <a:br>
              <a:rPr lang="es-CO" dirty="0"/>
            </a:br>
            <a:r>
              <a:rPr lang="es-CO" dirty="0"/>
              <a:t>{ </a:t>
            </a:r>
            <a:r>
              <a:rPr lang="es-CO" dirty="0" err="1"/>
              <a:t>user_id</a:t>
            </a:r>
            <a:r>
              <a:rPr lang="es-CO" dirty="0"/>
              <a:t>: 1 },</a:t>
            </a:r>
            <a:br>
              <a:rPr lang="es-CO" dirty="0"/>
            </a:br>
            <a:r>
              <a:rPr lang="es-CO" dirty="0"/>
              <a:t>{ $</a:t>
            </a:r>
            <a:r>
              <a:rPr lang="es-CO" dirty="0" err="1"/>
              <a:t>inc</a:t>
            </a:r>
            <a:r>
              <a:rPr lang="es-CO" dirty="0"/>
              <a:t>: { </a:t>
            </a:r>
            <a:r>
              <a:rPr lang="es-CO" dirty="0" err="1"/>
              <a:t>puntos_acumulados</a:t>
            </a:r>
            <a:r>
              <a:rPr lang="es-CO" dirty="0"/>
              <a:t>: 3 } }</a:t>
            </a:r>
            <a:br>
              <a:rPr lang="es-CO" dirty="0"/>
            </a:br>
            <a:r>
              <a:rPr lang="es-CO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43315001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A535D9-9CF5-4A0D-BEE4-6610E9F1CB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CO" sz="5300" b="1" dirty="0" err="1"/>
              <a:t>Delete</a:t>
            </a:r>
            <a:br>
              <a:rPr lang="es-CO" dirty="0"/>
            </a:b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82053E5-3099-4868-9424-63370C8893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24602"/>
            <a:ext cx="9825319" cy="94446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dirty="0"/>
              <a:t>5)  Borrar una predicción</a:t>
            </a:r>
            <a:endParaRPr lang="es-CO" dirty="0"/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EBE8482D-C94F-45EB-B3A6-CBB3B45F13CF}"/>
              </a:ext>
            </a:extLst>
          </p:cNvPr>
          <p:cNvSpPr txBox="1">
            <a:spLocks/>
          </p:cNvSpPr>
          <p:nvPr/>
        </p:nvSpPr>
        <p:spPr>
          <a:xfrm>
            <a:off x="3406180" y="230188"/>
            <a:ext cx="10120745" cy="11606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 sz="2400" dirty="0"/>
              <a:t>Borrado físico vs Lógico</a:t>
            </a:r>
            <a:endParaRPr lang="es-CO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DDABC4EF-669E-41C7-A9E1-753ADAAD7A46}"/>
              </a:ext>
            </a:extLst>
          </p:cNvPr>
          <p:cNvSpPr/>
          <p:nvPr/>
        </p:nvSpPr>
        <p:spPr>
          <a:xfrm>
            <a:off x="293594" y="231391"/>
            <a:ext cx="11604812" cy="6395218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7751DA09-64A9-44AA-B9E7-FF76EC4AFFEF}"/>
              </a:ext>
            </a:extLst>
          </p:cNvPr>
          <p:cNvSpPr txBox="1"/>
          <p:nvPr/>
        </p:nvSpPr>
        <p:spPr>
          <a:xfrm>
            <a:off x="3406180" y="2111501"/>
            <a:ext cx="67638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db.predictions.deleteOne</a:t>
            </a:r>
            <a:r>
              <a:rPr lang="en-US" dirty="0"/>
              <a:t>({ </a:t>
            </a:r>
            <a:r>
              <a:rPr lang="en-US" dirty="0" err="1"/>
              <a:t>prediction_id</a:t>
            </a:r>
            <a:r>
              <a:rPr lang="en-US" dirty="0"/>
              <a:t>: 9002 })</a:t>
            </a:r>
            <a:endParaRPr lang="es-CO" dirty="0"/>
          </a:p>
        </p:txBody>
      </p:sp>
      <p:sp>
        <p:nvSpPr>
          <p:cNvPr id="8" name="Marcador de contenido 2">
            <a:extLst>
              <a:ext uri="{FF2B5EF4-FFF2-40B4-BE49-F238E27FC236}">
                <a16:creationId xmlns:a16="http://schemas.microsoft.com/office/drawing/2014/main" id="{9E7ADA5A-0C26-4737-8ECE-7EA8FEC2B815}"/>
              </a:ext>
            </a:extLst>
          </p:cNvPr>
          <p:cNvSpPr txBox="1">
            <a:spLocks/>
          </p:cNvSpPr>
          <p:nvPr/>
        </p:nvSpPr>
        <p:spPr>
          <a:xfrm>
            <a:off x="838200" y="3801638"/>
            <a:ext cx="9825319" cy="94446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dirty="0"/>
              <a:t>6)  Borrar un usuario ?</a:t>
            </a:r>
            <a:endParaRPr lang="es-CO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6A7DD3A4-5C15-416A-98D0-34220CE40200}"/>
              </a:ext>
            </a:extLst>
          </p:cNvPr>
          <p:cNvSpPr txBox="1"/>
          <p:nvPr/>
        </p:nvSpPr>
        <p:spPr>
          <a:xfrm>
            <a:off x="3406180" y="4486028"/>
            <a:ext cx="676387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dirty="0" err="1"/>
              <a:t>db.users.updateOne</a:t>
            </a:r>
            <a:r>
              <a:rPr lang="es-CO" dirty="0"/>
              <a:t>(</a:t>
            </a:r>
            <a:br>
              <a:rPr lang="es-CO" dirty="0"/>
            </a:br>
            <a:r>
              <a:rPr lang="es-CO" dirty="0"/>
              <a:t>{ </a:t>
            </a:r>
            <a:r>
              <a:rPr lang="es-CO" dirty="0" err="1"/>
              <a:t>user_id</a:t>
            </a:r>
            <a:r>
              <a:rPr lang="es-CO" dirty="0"/>
              <a:t>: 2 },</a:t>
            </a:r>
            <a:br>
              <a:rPr lang="es-CO" dirty="0"/>
            </a:br>
            <a:r>
              <a:rPr lang="es-CO" dirty="0"/>
              <a:t>{ $set: { estado: "inactivo" } }</a:t>
            </a:r>
            <a:br>
              <a:rPr lang="es-CO" dirty="0"/>
            </a:br>
            <a:r>
              <a:rPr lang="es-CO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84438282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A535D9-9CF5-4A0D-BEE4-6610E9F1CB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CO" sz="5300" b="1" dirty="0" err="1"/>
              <a:t>Delete</a:t>
            </a:r>
            <a:br>
              <a:rPr lang="es-CO" dirty="0"/>
            </a:b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82053E5-3099-4868-9424-63370C8893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24602"/>
            <a:ext cx="9825319" cy="94446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dirty="0"/>
              <a:t>7)  Verificación</a:t>
            </a:r>
            <a:endParaRPr lang="es-CO" dirty="0"/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EBE8482D-C94F-45EB-B3A6-CBB3B45F13CF}"/>
              </a:ext>
            </a:extLst>
          </p:cNvPr>
          <p:cNvSpPr txBox="1">
            <a:spLocks/>
          </p:cNvSpPr>
          <p:nvPr/>
        </p:nvSpPr>
        <p:spPr>
          <a:xfrm>
            <a:off x="3406180" y="230188"/>
            <a:ext cx="10120745" cy="11606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 sz="2400" dirty="0"/>
              <a:t>Borrado físico vs Lógico</a:t>
            </a:r>
            <a:endParaRPr lang="es-CO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DDABC4EF-669E-41C7-A9E1-753ADAAD7A46}"/>
              </a:ext>
            </a:extLst>
          </p:cNvPr>
          <p:cNvSpPr/>
          <p:nvPr/>
        </p:nvSpPr>
        <p:spPr>
          <a:xfrm>
            <a:off x="293594" y="231391"/>
            <a:ext cx="11604812" cy="6395218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7751DA09-64A9-44AA-B9E7-FF76EC4AFFEF}"/>
              </a:ext>
            </a:extLst>
          </p:cNvPr>
          <p:cNvSpPr txBox="1"/>
          <p:nvPr/>
        </p:nvSpPr>
        <p:spPr>
          <a:xfrm>
            <a:off x="3406180" y="2111501"/>
            <a:ext cx="67638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dirty="0" err="1"/>
              <a:t>db.users.find</a:t>
            </a:r>
            <a:r>
              <a:rPr lang="es-CO" dirty="0"/>
              <a:t>({ </a:t>
            </a:r>
            <a:r>
              <a:rPr lang="es-CO" dirty="0" err="1"/>
              <a:t>user_id</a:t>
            </a:r>
            <a:r>
              <a:rPr lang="es-CO" dirty="0"/>
              <a:t>: 2 }, { _id: 0, </a:t>
            </a:r>
            <a:r>
              <a:rPr lang="es-CO" dirty="0" err="1"/>
              <a:t>user_id</a:t>
            </a:r>
            <a:r>
              <a:rPr lang="es-CO" dirty="0"/>
              <a:t>: 1, alias: 1, estado: 1 })</a:t>
            </a:r>
          </a:p>
        </p:txBody>
      </p:sp>
      <p:sp>
        <p:nvSpPr>
          <p:cNvPr id="8" name="Marcador de contenido 2">
            <a:extLst>
              <a:ext uri="{FF2B5EF4-FFF2-40B4-BE49-F238E27FC236}">
                <a16:creationId xmlns:a16="http://schemas.microsoft.com/office/drawing/2014/main" id="{9E7ADA5A-0C26-4737-8ECE-7EA8FEC2B815}"/>
              </a:ext>
            </a:extLst>
          </p:cNvPr>
          <p:cNvSpPr txBox="1">
            <a:spLocks/>
          </p:cNvSpPr>
          <p:nvPr/>
        </p:nvSpPr>
        <p:spPr>
          <a:xfrm>
            <a:off x="838200" y="3801638"/>
            <a:ext cx="9825319" cy="94446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dirty="0"/>
              <a:t>8) </a:t>
            </a:r>
            <a:r>
              <a:rPr lang="es-CO" dirty="0"/>
              <a:t>Borrar todos los documentos</a:t>
            </a:r>
            <a:r>
              <a:rPr lang="es-ES" dirty="0"/>
              <a:t> </a:t>
            </a:r>
            <a:endParaRPr lang="es-CO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6A7DD3A4-5C15-416A-98D0-34220CE40200}"/>
              </a:ext>
            </a:extLst>
          </p:cNvPr>
          <p:cNvSpPr txBox="1"/>
          <p:nvPr/>
        </p:nvSpPr>
        <p:spPr>
          <a:xfrm>
            <a:off x="3406180" y="4486028"/>
            <a:ext cx="67638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dirty="0" err="1"/>
              <a:t>db.nombreColeccion.deleteMany</a:t>
            </a:r>
            <a:r>
              <a:rPr lang="es-CO" dirty="0"/>
              <a:t>({})</a:t>
            </a:r>
          </a:p>
        </p:txBody>
      </p:sp>
    </p:spTree>
    <p:extLst>
      <p:ext uri="{BB962C8B-B14F-4D97-AF65-F5344CB8AC3E}">
        <p14:creationId xmlns:p14="http://schemas.microsoft.com/office/powerpoint/2010/main" val="649803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A535D9-9CF5-4A0D-BEE4-6610E9F1CB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CO" sz="5300" b="1" dirty="0" err="1"/>
              <a:t>Delete</a:t>
            </a:r>
            <a:br>
              <a:rPr lang="es-CO" dirty="0"/>
            </a:b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82053E5-3099-4868-9424-63370C8893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24602"/>
            <a:ext cx="9825319" cy="94446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dirty="0"/>
              <a:t>9) Ver cuántos se borrarían antes </a:t>
            </a:r>
            <a:endParaRPr lang="es-CO" dirty="0"/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EBE8482D-C94F-45EB-B3A6-CBB3B45F13CF}"/>
              </a:ext>
            </a:extLst>
          </p:cNvPr>
          <p:cNvSpPr txBox="1">
            <a:spLocks/>
          </p:cNvSpPr>
          <p:nvPr/>
        </p:nvSpPr>
        <p:spPr>
          <a:xfrm>
            <a:off x="3406180" y="230188"/>
            <a:ext cx="10120745" cy="11606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 sz="2400" dirty="0"/>
              <a:t>Borrado físico vs Lógico</a:t>
            </a:r>
            <a:endParaRPr lang="es-CO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DDABC4EF-669E-41C7-A9E1-753ADAAD7A46}"/>
              </a:ext>
            </a:extLst>
          </p:cNvPr>
          <p:cNvSpPr/>
          <p:nvPr/>
        </p:nvSpPr>
        <p:spPr>
          <a:xfrm>
            <a:off x="293594" y="231391"/>
            <a:ext cx="11604812" cy="6395218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7751DA09-64A9-44AA-B9E7-FF76EC4AFFEF}"/>
              </a:ext>
            </a:extLst>
          </p:cNvPr>
          <p:cNvSpPr txBox="1"/>
          <p:nvPr/>
        </p:nvSpPr>
        <p:spPr>
          <a:xfrm>
            <a:off x="2810435" y="2192164"/>
            <a:ext cx="687144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s-CO" dirty="0"/>
          </a:p>
          <a:p>
            <a:pPr rtl="0"/>
            <a:r>
              <a:rPr lang="es-CO" dirty="0" err="1"/>
              <a:t>db.nombreColeccion.countDocuments</a:t>
            </a:r>
            <a:r>
              <a:rPr lang="es-CO" dirty="0"/>
              <a:t>({ campo: valor })</a:t>
            </a:r>
          </a:p>
          <a:p>
            <a:pPr rtl="0"/>
            <a:endParaRPr lang="es-CO" dirty="0"/>
          </a:p>
          <a:p>
            <a:pPr rtl="0"/>
            <a:r>
              <a:rPr lang="pt-BR" dirty="0" err="1"/>
              <a:t>db.users.countDocuments</a:t>
            </a:r>
            <a:r>
              <a:rPr lang="pt-BR" dirty="0"/>
              <a:t>({ estado: "</a:t>
            </a:r>
            <a:r>
              <a:rPr lang="pt-BR" dirty="0" err="1"/>
              <a:t>inactivo</a:t>
            </a:r>
            <a:r>
              <a:rPr lang="pt-BR" dirty="0"/>
              <a:t>" })</a:t>
            </a:r>
            <a:endParaRPr lang="es-CO" dirty="0"/>
          </a:p>
        </p:txBody>
      </p:sp>
      <p:sp>
        <p:nvSpPr>
          <p:cNvPr id="8" name="Marcador de contenido 2">
            <a:extLst>
              <a:ext uri="{FF2B5EF4-FFF2-40B4-BE49-F238E27FC236}">
                <a16:creationId xmlns:a16="http://schemas.microsoft.com/office/drawing/2014/main" id="{9E7ADA5A-0C26-4737-8ECE-7EA8FEC2B815}"/>
              </a:ext>
            </a:extLst>
          </p:cNvPr>
          <p:cNvSpPr txBox="1">
            <a:spLocks/>
          </p:cNvSpPr>
          <p:nvPr/>
        </p:nvSpPr>
        <p:spPr>
          <a:xfrm>
            <a:off x="838200" y="3801638"/>
            <a:ext cx="9825319" cy="94446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dirty="0"/>
              <a:t>10) </a:t>
            </a:r>
            <a:r>
              <a:rPr lang="es-CO" dirty="0"/>
              <a:t>Borrar todos los documentos</a:t>
            </a:r>
            <a:r>
              <a:rPr lang="es-ES" dirty="0"/>
              <a:t> </a:t>
            </a:r>
            <a:endParaRPr lang="es-CO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6A7DD3A4-5C15-416A-98D0-34220CE40200}"/>
              </a:ext>
            </a:extLst>
          </p:cNvPr>
          <p:cNvSpPr txBox="1"/>
          <p:nvPr/>
        </p:nvSpPr>
        <p:spPr>
          <a:xfrm>
            <a:off x="3406180" y="4486028"/>
            <a:ext cx="67638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dirty="0" err="1"/>
              <a:t>db.nombreColeccion.deleteMany</a:t>
            </a:r>
            <a:r>
              <a:rPr lang="es-CO" dirty="0"/>
              <a:t>({})</a:t>
            </a:r>
          </a:p>
        </p:txBody>
      </p:sp>
    </p:spTree>
    <p:extLst>
      <p:ext uri="{BB962C8B-B14F-4D97-AF65-F5344CB8AC3E}">
        <p14:creationId xmlns:p14="http://schemas.microsoft.com/office/powerpoint/2010/main" val="89954151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A535D9-9CF5-4A0D-BEE4-6610E9F1CB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4448" y="372499"/>
            <a:ext cx="10269071" cy="532134"/>
          </a:xfrm>
        </p:spPr>
        <p:txBody>
          <a:bodyPr>
            <a:normAutofit fontScale="90000"/>
          </a:bodyPr>
          <a:lstStyle/>
          <a:p>
            <a:r>
              <a:rPr lang="es-ES" sz="2400" dirty="0"/>
              <a:t>Operadores de comparación: </a:t>
            </a:r>
            <a:r>
              <a:rPr lang="es-ES" sz="2400" b="1" dirty="0"/>
              <a:t>$</a:t>
            </a:r>
            <a:r>
              <a:rPr lang="es-ES" sz="2400" b="1" dirty="0" err="1"/>
              <a:t>eq</a:t>
            </a:r>
            <a:r>
              <a:rPr lang="es-ES" sz="2400" b="1" dirty="0"/>
              <a:t>, $</a:t>
            </a:r>
            <a:r>
              <a:rPr lang="es-ES" sz="2400" b="1" dirty="0" err="1"/>
              <a:t>ne</a:t>
            </a:r>
            <a:r>
              <a:rPr lang="es-ES" sz="2400" b="1" dirty="0"/>
              <a:t>, $</a:t>
            </a:r>
            <a:r>
              <a:rPr lang="es-ES" sz="2400" b="1" dirty="0" err="1"/>
              <a:t>gt</a:t>
            </a:r>
            <a:r>
              <a:rPr lang="es-ES" sz="2400" b="1" dirty="0"/>
              <a:t>, $</a:t>
            </a:r>
            <a:r>
              <a:rPr lang="es-ES" sz="2400" b="1" dirty="0" err="1"/>
              <a:t>gte</a:t>
            </a:r>
            <a:r>
              <a:rPr lang="es-ES" sz="2400" b="1" dirty="0"/>
              <a:t>, $</a:t>
            </a:r>
            <a:r>
              <a:rPr lang="es-ES" sz="2400" b="1" dirty="0" err="1"/>
              <a:t>lt</a:t>
            </a:r>
            <a:r>
              <a:rPr lang="es-ES" sz="2400" b="1" dirty="0"/>
              <a:t>, $</a:t>
            </a:r>
            <a:r>
              <a:rPr lang="es-ES" sz="2400" b="1" dirty="0" err="1"/>
              <a:t>lte</a:t>
            </a:r>
            <a:r>
              <a:rPr lang="es-ES" sz="2400" b="1" dirty="0"/>
              <a:t>, $in, $</a:t>
            </a:r>
            <a:r>
              <a:rPr lang="es-ES" sz="2400" b="1" dirty="0" err="1"/>
              <a:t>nin</a:t>
            </a:r>
            <a:br>
              <a:rPr lang="es-CO" dirty="0"/>
            </a:b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82053E5-3099-4868-9424-63370C8893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24602"/>
            <a:ext cx="9825319" cy="558309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s-ES" dirty="0"/>
              <a:t>11) Buscar usuarios cuyo programa sea exactamente “ing. Sistemas” </a:t>
            </a:r>
            <a:endParaRPr lang="es-CO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DDABC4EF-669E-41C7-A9E1-753ADAAD7A46}"/>
              </a:ext>
            </a:extLst>
          </p:cNvPr>
          <p:cNvSpPr/>
          <p:nvPr/>
        </p:nvSpPr>
        <p:spPr>
          <a:xfrm>
            <a:off x="293594" y="231391"/>
            <a:ext cx="11604812" cy="6395218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7751DA09-64A9-44AA-B9E7-FF76EC4AFFEF}"/>
              </a:ext>
            </a:extLst>
          </p:cNvPr>
          <p:cNvSpPr txBox="1"/>
          <p:nvPr/>
        </p:nvSpPr>
        <p:spPr>
          <a:xfrm>
            <a:off x="2810435" y="2192164"/>
            <a:ext cx="687144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dirty="0" err="1"/>
              <a:t>db.users.find</a:t>
            </a:r>
            <a:r>
              <a:rPr lang="es-CO" dirty="0"/>
              <a:t>(</a:t>
            </a:r>
            <a:br>
              <a:rPr lang="es-CO" dirty="0"/>
            </a:br>
            <a:r>
              <a:rPr lang="es-CO" dirty="0"/>
              <a:t>{ programa: { $</a:t>
            </a:r>
            <a:r>
              <a:rPr lang="es-CO" dirty="0" err="1"/>
              <a:t>eq</a:t>
            </a:r>
            <a:r>
              <a:rPr lang="es-CO" dirty="0"/>
              <a:t>: "Ing. Sistemas" } },</a:t>
            </a:r>
            <a:br>
              <a:rPr lang="es-CO" dirty="0"/>
            </a:br>
            <a:r>
              <a:rPr lang="es-CO" dirty="0"/>
              <a:t>{ _id: 0, </a:t>
            </a:r>
            <a:r>
              <a:rPr lang="es-CO" dirty="0" err="1"/>
              <a:t>user_id</a:t>
            </a:r>
            <a:r>
              <a:rPr lang="es-CO" dirty="0"/>
              <a:t>: 1, alias: 1, programa: 1 }</a:t>
            </a:r>
            <a:br>
              <a:rPr lang="es-CO" dirty="0"/>
            </a:br>
            <a:r>
              <a:rPr lang="es-CO" dirty="0"/>
              <a:t>)</a:t>
            </a:r>
          </a:p>
        </p:txBody>
      </p:sp>
      <p:sp>
        <p:nvSpPr>
          <p:cNvPr id="8" name="Marcador de contenido 2">
            <a:extLst>
              <a:ext uri="{FF2B5EF4-FFF2-40B4-BE49-F238E27FC236}">
                <a16:creationId xmlns:a16="http://schemas.microsoft.com/office/drawing/2014/main" id="{9E7ADA5A-0C26-4737-8ECE-7EA8FEC2B815}"/>
              </a:ext>
            </a:extLst>
          </p:cNvPr>
          <p:cNvSpPr txBox="1">
            <a:spLocks/>
          </p:cNvSpPr>
          <p:nvPr/>
        </p:nvSpPr>
        <p:spPr>
          <a:xfrm>
            <a:off x="838200" y="3801638"/>
            <a:ext cx="9825319" cy="94446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dirty="0"/>
              <a:t>12) Buscar usuarios cuyo semestre  sea exactamente </a:t>
            </a:r>
          </a:p>
          <a:p>
            <a:pPr marL="0" indent="0">
              <a:buNone/>
            </a:pPr>
            <a:r>
              <a:rPr lang="es-ES" dirty="0"/>
              <a:t>Igual a 4 </a:t>
            </a:r>
            <a:endParaRPr lang="es-CO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6A7DD3A4-5C15-416A-98D0-34220CE40200}"/>
              </a:ext>
            </a:extLst>
          </p:cNvPr>
          <p:cNvSpPr txBox="1"/>
          <p:nvPr/>
        </p:nvSpPr>
        <p:spPr>
          <a:xfrm>
            <a:off x="2810435" y="4854727"/>
            <a:ext cx="676387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dirty="0" err="1"/>
              <a:t>db.users.find</a:t>
            </a:r>
            <a:r>
              <a:rPr lang="es-CO" dirty="0"/>
              <a:t>(</a:t>
            </a:r>
            <a:br>
              <a:rPr lang="es-CO" dirty="0"/>
            </a:br>
            <a:r>
              <a:rPr lang="es-CO" dirty="0"/>
              <a:t>{ semestre: { $</a:t>
            </a:r>
            <a:r>
              <a:rPr lang="es-CO" dirty="0" err="1"/>
              <a:t>eq</a:t>
            </a:r>
            <a:r>
              <a:rPr lang="es-CO" dirty="0"/>
              <a:t>: 4 } },</a:t>
            </a:r>
            <a:br>
              <a:rPr lang="es-CO" dirty="0"/>
            </a:br>
            <a:r>
              <a:rPr lang="es-CO" dirty="0"/>
              <a:t>{ _id: 0, </a:t>
            </a:r>
            <a:r>
              <a:rPr lang="es-CO" dirty="0" err="1"/>
              <a:t>user_id</a:t>
            </a:r>
            <a:r>
              <a:rPr lang="es-CO" dirty="0"/>
              <a:t>: 1, alias: 1, semestre: 1 }</a:t>
            </a:r>
            <a:br>
              <a:rPr lang="es-CO" dirty="0"/>
            </a:br>
            <a:r>
              <a:rPr lang="es-CO" dirty="0"/>
              <a:t>)</a:t>
            </a: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95AA0853-6A73-41B8-BB4B-104EB1AA96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27217" y="5019105"/>
            <a:ext cx="2655184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Estos operadores se usan dentro del </a:t>
            </a:r>
            <a:r>
              <a:rPr kumimoji="0" lang="es-CO" altLang="es-CO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filtro 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de </a:t>
            </a:r>
            <a:r>
              <a:rPr kumimoji="0" lang="es-CO" altLang="es-CO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find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() o en </a:t>
            </a:r>
            <a:r>
              <a:rPr kumimoji="0" lang="es-CO" altLang="es-CO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updates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con condición 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7DCBB455-BBCB-4870-826C-8A9F83BDDD4E}"/>
              </a:ext>
            </a:extLst>
          </p:cNvPr>
          <p:cNvSpPr txBox="1"/>
          <p:nvPr/>
        </p:nvSpPr>
        <p:spPr>
          <a:xfrm>
            <a:off x="1513916" y="1016405"/>
            <a:ext cx="612513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2000" b="1" dirty="0" err="1"/>
              <a:t>db.users.find</a:t>
            </a:r>
            <a:r>
              <a:rPr lang="es-CO" sz="2000" b="1" dirty="0"/>
              <a:t>( FILTRO , PROYECCION </a:t>
            </a:r>
            <a:r>
              <a:rPr lang="es-CO" dirty="0"/>
              <a:t>)</a:t>
            </a:r>
          </a:p>
        </p:txBody>
      </p:sp>
      <p:sp>
        <p:nvSpPr>
          <p:cNvPr id="17" name="Rectangle 5">
            <a:extLst>
              <a:ext uri="{FF2B5EF4-FFF2-40B4-BE49-F238E27FC236}">
                <a16:creationId xmlns:a16="http://schemas.microsoft.com/office/drawing/2014/main" id="{B25F4141-074F-4051-AC0B-B0A30BAE5A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6859" y="433612"/>
            <a:ext cx="661595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CO" altLang="es-CO" dirty="0">
                <a:latin typeface="Arial" panose="020B0604020202020204" pitchFamily="34" charset="0"/>
              </a:rPr>
              <a:t>$</a:t>
            </a:r>
            <a:r>
              <a:rPr lang="es-CO" altLang="es-CO" dirty="0" err="1">
                <a:latin typeface="Arial" panose="020B0604020202020204" pitchFamily="34" charset="0"/>
              </a:rPr>
              <a:t>eq</a:t>
            </a:r>
            <a:r>
              <a:rPr lang="es-CO" altLang="es-CO" dirty="0">
                <a:latin typeface="Arial" panose="020B0604020202020204" pitchFamily="34" charset="0"/>
              </a:rPr>
              <a:t>: Equivalente a</a:t>
            </a:r>
            <a:r>
              <a:rPr kumimoji="0" lang="es-CO" altLang="es-CO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s-CO" altLang="es-CO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729968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82053E5-3099-4868-9424-63370C8893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24602"/>
            <a:ext cx="9825319" cy="55830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dirty="0"/>
              <a:t>13) Usuarios con semestre mayor a 6</a:t>
            </a:r>
          </a:p>
          <a:p>
            <a:pPr marL="0" indent="0">
              <a:buNone/>
            </a:pPr>
            <a:endParaRPr lang="es-CO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DDABC4EF-669E-41C7-A9E1-753ADAAD7A46}"/>
              </a:ext>
            </a:extLst>
          </p:cNvPr>
          <p:cNvSpPr/>
          <p:nvPr/>
        </p:nvSpPr>
        <p:spPr>
          <a:xfrm>
            <a:off x="293594" y="231391"/>
            <a:ext cx="11604812" cy="6395218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7751DA09-64A9-44AA-B9E7-FF76EC4AFFEF}"/>
              </a:ext>
            </a:extLst>
          </p:cNvPr>
          <p:cNvSpPr txBox="1"/>
          <p:nvPr/>
        </p:nvSpPr>
        <p:spPr>
          <a:xfrm>
            <a:off x="2810435" y="2192164"/>
            <a:ext cx="408790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dirty="0" err="1"/>
              <a:t>db.users.find</a:t>
            </a:r>
            <a:r>
              <a:rPr lang="es-CO" dirty="0"/>
              <a:t>(</a:t>
            </a:r>
            <a:br>
              <a:rPr lang="es-CO" dirty="0"/>
            </a:br>
            <a:r>
              <a:rPr lang="es-CO" dirty="0"/>
              <a:t>{ semestre: { $</a:t>
            </a:r>
            <a:r>
              <a:rPr lang="es-CO" dirty="0" err="1"/>
              <a:t>gt</a:t>
            </a:r>
            <a:r>
              <a:rPr lang="es-CO" dirty="0"/>
              <a:t>: 6 } },</a:t>
            </a:r>
            <a:br>
              <a:rPr lang="es-CO" dirty="0"/>
            </a:br>
            <a:r>
              <a:rPr lang="es-CO" dirty="0"/>
              <a:t>{ _id: 0, </a:t>
            </a:r>
            <a:r>
              <a:rPr lang="es-CO" dirty="0" err="1"/>
              <a:t>user_id</a:t>
            </a:r>
            <a:r>
              <a:rPr lang="es-CO" dirty="0"/>
              <a:t>: 1, alias: 1, semestre: 1 }</a:t>
            </a:r>
            <a:br>
              <a:rPr lang="es-CO" dirty="0"/>
            </a:br>
            <a:r>
              <a:rPr lang="es-CO" dirty="0"/>
              <a:t>)</a:t>
            </a:r>
          </a:p>
        </p:txBody>
      </p:sp>
      <p:sp>
        <p:nvSpPr>
          <p:cNvPr id="8" name="Marcador de contenido 2">
            <a:extLst>
              <a:ext uri="{FF2B5EF4-FFF2-40B4-BE49-F238E27FC236}">
                <a16:creationId xmlns:a16="http://schemas.microsoft.com/office/drawing/2014/main" id="{9E7ADA5A-0C26-4737-8ECE-7EA8FEC2B815}"/>
              </a:ext>
            </a:extLst>
          </p:cNvPr>
          <p:cNvSpPr txBox="1">
            <a:spLocks/>
          </p:cNvSpPr>
          <p:nvPr/>
        </p:nvSpPr>
        <p:spPr>
          <a:xfrm>
            <a:off x="838200" y="3801638"/>
            <a:ext cx="9825319" cy="94446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dirty="0"/>
              <a:t>14) Usuarios con semestre menor a 3</a:t>
            </a:r>
            <a:endParaRPr lang="es-CO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6A7DD3A4-5C15-416A-98D0-34220CE40200}"/>
              </a:ext>
            </a:extLst>
          </p:cNvPr>
          <p:cNvSpPr txBox="1"/>
          <p:nvPr/>
        </p:nvSpPr>
        <p:spPr>
          <a:xfrm>
            <a:off x="2714065" y="4437290"/>
            <a:ext cx="676387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dirty="0" err="1"/>
              <a:t>db.users.find</a:t>
            </a:r>
            <a:r>
              <a:rPr lang="es-CO" dirty="0"/>
              <a:t>(</a:t>
            </a:r>
            <a:br>
              <a:rPr lang="es-CO" dirty="0"/>
            </a:br>
            <a:r>
              <a:rPr lang="es-CO" dirty="0"/>
              <a:t>{ semestre: { $</a:t>
            </a:r>
            <a:r>
              <a:rPr lang="es-CO" dirty="0" err="1"/>
              <a:t>lt</a:t>
            </a:r>
            <a:r>
              <a:rPr lang="es-CO" dirty="0"/>
              <a:t>: 3 } },</a:t>
            </a:r>
            <a:br>
              <a:rPr lang="es-CO" dirty="0"/>
            </a:br>
            <a:r>
              <a:rPr lang="es-CO" dirty="0"/>
              <a:t>{ _id: 0, </a:t>
            </a:r>
            <a:r>
              <a:rPr lang="es-CO" dirty="0" err="1"/>
              <a:t>user_id</a:t>
            </a:r>
            <a:r>
              <a:rPr lang="es-CO" dirty="0"/>
              <a:t>: 1, alias: 1, semestre: 1 }</a:t>
            </a:r>
            <a:br>
              <a:rPr lang="es-CO" dirty="0"/>
            </a:br>
            <a:r>
              <a:rPr lang="es-CO" dirty="0"/>
              <a:t>)</a:t>
            </a: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95AA0853-6A73-41B8-BB4B-104EB1AA96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27217" y="5019105"/>
            <a:ext cx="2655184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Estos operadores se usan dentro del </a:t>
            </a:r>
            <a:r>
              <a:rPr kumimoji="0" lang="es-CO" altLang="es-CO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filtro 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de </a:t>
            </a:r>
            <a:r>
              <a:rPr kumimoji="0" lang="es-CO" altLang="es-CO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find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() o en </a:t>
            </a:r>
            <a:r>
              <a:rPr kumimoji="0" lang="es-CO" altLang="es-CO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updates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con condición </a:t>
            </a:r>
          </a:p>
        </p:txBody>
      </p:sp>
      <p:sp>
        <p:nvSpPr>
          <p:cNvPr id="13" name="Rectangle 5">
            <a:extLst>
              <a:ext uri="{FF2B5EF4-FFF2-40B4-BE49-F238E27FC236}">
                <a16:creationId xmlns:a16="http://schemas.microsoft.com/office/drawing/2014/main" id="{6B566995-6E8F-4CCB-A00A-F66655E4CA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6860" y="433612"/>
            <a:ext cx="20574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CO" altLang="es-CO" dirty="0">
                <a:latin typeface="Arial" panose="020B0604020202020204" pitchFamily="34" charset="0"/>
              </a:rPr>
              <a:t>$</a:t>
            </a:r>
            <a:r>
              <a:rPr lang="es-CO" altLang="es-CO" dirty="0" err="1">
                <a:latin typeface="Arial" panose="020B0604020202020204" pitchFamily="34" charset="0"/>
              </a:rPr>
              <a:t>ne</a:t>
            </a:r>
            <a:r>
              <a:rPr lang="es-CO" altLang="es-CO" dirty="0">
                <a:latin typeface="Arial" panose="020B0604020202020204" pitchFamily="34" charset="0"/>
              </a:rPr>
              <a:t>: Diferente de</a:t>
            </a:r>
            <a:r>
              <a:rPr kumimoji="0" lang="es-CO" altLang="es-CO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s-CO" altLang="es-CO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" name="Rectangle 5">
            <a:extLst>
              <a:ext uri="{FF2B5EF4-FFF2-40B4-BE49-F238E27FC236}">
                <a16:creationId xmlns:a16="http://schemas.microsoft.com/office/drawing/2014/main" id="{E13F63C0-196E-4915-91DC-EE4A9B3D21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6860" y="764345"/>
            <a:ext cx="223221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CO" altLang="es-CO" dirty="0">
                <a:latin typeface="Arial" panose="020B0604020202020204" pitchFamily="34" charset="0"/>
              </a:rPr>
              <a:t>$</a:t>
            </a:r>
            <a:r>
              <a:rPr lang="es-CO" altLang="es-CO" dirty="0" err="1">
                <a:latin typeface="Arial" panose="020B0604020202020204" pitchFamily="34" charset="0"/>
              </a:rPr>
              <a:t>gt</a:t>
            </a:r>
            <a:r>
              <a:rPr lang="es-CO" altLang="es-CO" dirty="0">
                <a:latin typeface="Arial" panose="020B0604020202020204" pitchFamily="34" charset="0"/>
              </a:rPr>
              <a:t>: Mayor que </a:t>
            </a:r>
            <a:endParaRPr kumimoji="0" lang="es-CO" altLang="es-CO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" name="Rectangle 5">
            <a:extLst>
              <a:ext uri="{FF2B5EF4-FFF2-40B4-BE49-F238E27FC236}">
                <a16:creationId xmlns:a16="http://schemas.microsoft.com/office/drawing/2014/main" id="{63BEBCCA-5C05-490F-9410-CDD47665F5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6859" y="1095078"/>
            <a:ext cx="2761129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CO" altLang="es-CO" dirty="0">
                <a:latin typeface="Arial" panose="020B0604020202020204" pitchFamily="34" charset="0"/>
              </a:rPr>
              <a:t>$</a:t>
            </a:r>
            <a:r>
              <a:rPr lang="es-CO" altLang="es-CO" dirty="0" err="1">
                <a:latin typeface="Arial" panose="020B0604020202020204" pitchFamily="34" charset="0"/>
              </a:rPr>
              <a:t>gte</a:t>
            </a:r>
            <a:r>
              <a:rPr lang="es-CO" altLang="es-CO" dirty="0">
                <a:latin typeface="Arial" panose="020B0604020202020204" pitchFamily="34" charset="0"/>
              </a:rPr>
              <a:t>: Mayor o igual que</a:t>
            </a:r>
            <a:endParaRPr kumimoji="0" lang="es-CO" altLang="es-CO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Rectangle 5">
            <a:extLst>
              <a:ext uri="{FF2B5EF4-FFF2-40B4-BE49-F238E27FC236}">
                <a16:creationId xmlns:a16="http://schemas.microsoft.com/office/drawing/2014/main" id="{FBE8CE39-E972-4E43-A4AD-F5FEF85A22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79695" y="480573"/>
            <a:ext cx="20574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CO" altLang="es-CO" dirty="0">
                <a:latin typeface="Arial" panose="020B0604020202020204" pitchFamily="34" charset="0"/>
              </a:rPr>
              <a:t>$</a:t>
            </a:r>
            <a:r>
              <a:rPr lang="es-CO" altLang="es-CO" dirty="0" err="1">
                <a:latin typeface="Arial" panose="020B0604020202020204" pitchFamily="34" charset="0"/>
              </a:rPr>
              <a:t>lt</a:t>
            </a:r>
            <a:r>
              <a:rPr lang="es-CO" altLang="es-CO" dirty="0">
                <a:latin typeface="Arial" panose="020B0604020202020204" pitchFamily="34" charset="0"/>
              </a:rPr>
              <a:t>: Menor que</a:t>
            </a:r>
            <a:endParaRPr kumimoji="0" lang="es-CO" altLang="es-CO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6" name="Rectangle 5">
            <a:extLst>
              <a:ext uri="{FF2B5EF4-FFF2-40B4-BE49-F238E27FC236}">
                <a16:creationId xmlns:a16="http://schemas.microsoft.com/office/drawing/2014/main" id="{72B965F6-28DD-4422-BEF0-CB10D7C5AC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79695" y="808071"/>
            <a:ext cx="351864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CO" altLang="es-CO" dirty="0">
                <a:latin typeface="Arial" panose="020B0604020202020204" pitchFamily="34" charset="0"/>
              </a:rPr>
              <a:t>$</a:t>
            </a:r>
            <a:r>
              <a:rPr lang="es-CO" altLang="es-CO" dirty="0" err="1">
                <a:latin typeface="Arial" panose="020B0604020202020204" pitchFamily="34" charset="0"/>
              </a:rPr>
              <a:t>lte</a:t>
            </a:r>
            <a:r>
              <a:rPr lang="es-CO" altLang="es-CO" dirty="0">
                <a:latin typeface="Arial" panose="020B0604020202020204" pitchFamily="34" charset="0"/>
              </a:rPr>
              <a:t>: Menor o igual que</a:t>
            </a:r>
            <a:endParaRPr kumimoji="0" lang="es-CO" altLang="es-CO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750CB5E9-590C-4249-B846-F6A224E016B6}"/>
              </a:ext>
            </a:extLst>
          </p:cNvPr>
          <p:cNvSpPr txBox="1"/>
          <p:nvPr/>
        </p:nvSpPr>
        <p:spPr>
          <a:xfrm>
            <a:off x="7523632" y="2175793"/>
            <a:ext cx="416410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dirty="0" err="1"/>
              <a:t>db.users.find</a:t>
            </a:r>
            <a:r>
              <a:rPr lang="es-CO" dirty="0"/>
              <a:t>(</a:t>
            </a:r>
            <a:br>
              <a:rPr lang="es-CO" dirty="0"/>
            </a:br>
            <a:r>
              <a:rPr lang="es-CO" dirty="0"/>
              <a:t>{ semestre: { $</a:t>
            </a:r>
            <a:r>
              <a:rPr lang="es-CO" dirty="0" err="1"/>
              <a:t>lte</a:t>
            </a:r>
            <a:r>
              <a:rPr lang="es-CO" dirty="0"/>
              <a:t>: 3 } },</a:t>
            </a:r>
            <a:br>
              <a:rPr lang="es-CO" dirty="0"/>
            </a:br>
            <a:r>
              <a:rPr lang="es-CO" dirty="0"/>
              <a:t>{ _id: 0, </a:t>
            </a:r>
            <a:r>
              <a:rPr lang="es-CO" dirty="0" err="1"/>
              <a:t>user_id</a:t>
            </a:r>
            <a:r>
              <a:rPr lang="es-CO" dirty="0"/>
              <a:t>: 1, alias: 1, semestre: 1 }</a:t>
            </a:r>
            <a:br>
              <a:rPr lang="es-CO" dirty="0"/>
            </a:br>
            <a:r>
              <a:rPr lang="es-CO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94655963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2187</TotalTime>
  <Words>2080</Words>
  <Application>Microsoft Office PowerPoint</Application>
  <PresentationFormat>Panorámica</PresentationFormat>
  <Paragraphs>145</Paragraphs>
  <Slides>26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26</vt:i4>
      </vt:variant>
    </vt:vector>
  </HeadingPairs>
  <TitlesOfParts>
    <vt:vector size="32" baseType="lpstr">
      <vt:lpstr>Arial</vt:lpstr>
      <vt:lpstr>Arial Unicode MS</vt:lpstr>
      <vt:lpstr>Calibri</vt:lpstr>
      <vt:lpstr>Calibri Light</vt:lpstr>
      <vt:lpstr>Wingdings</vt:lpstr>
      <vt:lpstr>Tema de Office</vt:lpstr>
      <vt:lpstr>Bases de datos No relacionales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Diseño Jerarquico </vt:lpstr>
      <vt:lpstr>Insert : </vt:lpstr>
      <vt:lpstr>Tipos de Insert   </vt:lpstr>
      <vt:lpstr>Tipos de Insert  </vt:lpstr>
      <vt:lpstr>Insert   </vt:lpstr>
      <vt:lpstr>Tipos de Insert  </vt:lpstr>
      <vt:lpstr>Tipos de Insert  </vt:lpstr>
      <vt:lpstr>Tipos de Insert  </vt:lpstr>
      <vt:lpstr>Read </vt:lpstr>
      <vt:lpstr>Read </vt:lpstr>
      <vt:lpstr>Presentación de PowerPoint</vt:lpstr>
      <vt:lpstr>Update  </vt:lpstr>
      <vt:lpstr>Update  </vt:lpstr>
      <vt:lpstr>Update  </vt:lpstr>
      <vt:lpstr>Delete </vt:lpstr>
      <vt:lpstr>Delete </vt:lpstr>
      <vt:lpstr>Delete </vt:lpstr>
      <vt:lpstr>Operadores de comparación: $eq, $ne, $gt, $gte, $lt, $lte, $in, $nin 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MAURICIO BEDOYA</dc:creator>
  <cp:lastModifiedBy>MAURICIO BEDOYA</cp:lastModifiedBy>
  <cp:revision>43</cp:revision>
  <dcterms:created xsi:type="dcterms:W3CDTF">2026-03-10T04:41:58Z</dcterms:created>
  <dcterms:modified xsi:type="dcterms:W3CDTF">2026-04-30T17:09:26Z</dcterms:modified>
</cp:coreProperties>
</file>